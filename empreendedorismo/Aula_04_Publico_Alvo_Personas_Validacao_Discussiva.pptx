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B4CDE6"/>
                </a:solidFill>
              </a:rPr>
              <a:t>AULA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Público-alvo, personas e
validação da oportunidade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4937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B4CDE6"/>
                </a:solidFill>
              </a:rPr>
              <a:t>Empreendedorismo · ADS · IFSP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Da Aula 3 para a Aula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Nós identificamos um problema. Mas como sabemos se ele é realmente um problema para alguém?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 evidência temos até agora?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Quem exatamente vive essa situação?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 que ainda é apenas suposição?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Público-alvo: uma definição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Segmentar é escolher onde começar a investigação.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82296" cy="182880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DEFINIÇÃO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800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Grupo de pessoas ou organizações que provavelmente vive o problema em um contexto específico e para o qual a proposta pretende gerar valor.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82296" cy="182880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PERGUNTA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“Quem tem esse problema?” ainda é amplo demais. O que precisamos saber para tornar essa resposta útil para uma equipe de produto?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640"/>
                </a:solidFill>
              </a:rPr>
              <a:t>Compare: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4340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343400"/>
            <a:ext cx="82296" cy="123444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3E3E"/>
                </a:solidFill>
              </a:rPr>
              <a:t>Amplo demais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37760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“Estudantes universitários.”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343400"/>
            <a:ext cx="5029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4343400"/>
            <a:ext cx="82296" cy="12344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480560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Mais investigável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37760"/>
            <a:ext cx="4617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“Alunos de graduação que trabalham em período integral e têm dificuldade recorrente para acompanhar prazos acadêmicos.”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Situação-problema: quem é o público?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Uma equipe quer criar um sistema para reduzir filas em serviços públicos. Quem deveria entrevistar primeiro?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Cidadãos que usam o serviço?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Servidores que operam o atendimento?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Gestores que decidem e contratam?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Usuário, cliente e beneficiário podem ser pessoas diferentes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82296" cy="19202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USUÁRIO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6323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Quem interage diretamente com a solução.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1463040"/>
            <a:ext cx="82296" cy="19202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CLIENTE / DECISOR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06323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Quem decide adotar, contratar ou pagar pela solução.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46304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1463040"/>
            <a:ext cx="82296" cy="19202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BENEFICIÁRIO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57400"/>
            <a:ext cx="3063239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Quem recebe o benefício final, mesmo sem operar ou comprar.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39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2640"/>
                </a:solidFill>
              </a:rPr>
              <a:t>Caso para discussão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</a:rPr>
              <a:t>Um aplicativo escolar informa responsáveis sobre frequência e desempenho dos alunos. Quem é usuário? Quem é cliente? Quem é beneficiário? As respostas mudam se a escola for pública?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Como segmentar sem inventar um público?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Quais características realmente alteram a ocorrência, a intensidade ou a urgência do problema?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Contexto e rotina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Comportamentos e alternativas atuais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Poder de decisão e urgência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Persona não é personagem de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É uma síntese provisória de padrões que a equipe pretende verificar.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82296" cy="20574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PERSONA ÚTIL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800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Contexto, objetivos, dores, comportamento, barreiras, alternativas atuais, motivadores e linguagem — sustentados por observação ou pesquisa.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82296" cy="20574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3E3E"/>
                </a:solidFill>
              </a:rPr>
              <a:t>CARICATURA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8006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Nome, idade, hobbies e preferências inventadas que não ajudam a explicar o problema nem orientar decisões.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62640"/>
                </a:solidFill>
              </a:rPr>
              <a:t>Pergunta: se retirarmos o nome e a foto da persona, ainda sobra informação suficiente para orientar o produto?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Qual persona é mais útil?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A) “Ana, 22 anos, gosta de séries e café.”  B) “Aluna do noturno, trabalha 8h/dia, acessa o AVA principalmente pelo celular e perde prazos quando as informações ficam distribuídas em vários canais.”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Qual descreve comportamento relevante?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Qual contém hipóteses testáveis?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 que ainda precisaríamos validar?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Hipótese: uma afirmação que pode estar errada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Se não puder ser contrariada por evidência, não é uma boa hipótese de validação.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82296" cy="19659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HIPÓTESE DE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39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Acreditamos que este grupo enfrenta uma dor específica, frequente e relevante.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82296" cy="19659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HIPÓTESE DE 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063239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Acreditamos que este segmento sente a dor com maior intensidade ou urgência.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50876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1508760"/>
            <a:ext cx="82296" cy="19659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HIPÓTESE DE COMPORTAMENTO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63239" cy="1234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Acreditamos que esse público já usa atalhos, improvisos ou alternativas para lidar com a situação.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Transforme em hipótese testável: “As pessoas precisam de um aplicativo melhor para se organizar.”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Hipótese forte ou fraca?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“Pequenos comerciantes perdem vendas por não conseguirem divulgar promoções de última hora.” O que precisaríamos observar para aceitar ou rejeitar essa afirmação?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 problema ocorre com frequência?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Há consequência mensurável?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 solução eles usam hoje?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Validar não é pedir aprovação para 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62640"/>
                </a:solidFill>
              </a:rPr>
              <a:t>Validação é produzir evidências que reduzam a incerteza sobre problema, público, comportamento e necessidade.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78892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2788920"/>
            <a:ext cx="82296" cy="201168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926079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3E3E"/>
                </a:solidFill>
              </a:rPr>
              <a:t>PERGUNTA QUE CONFIRMA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383279"/>
            <a:ext cx="4617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“Você usaria um aplicativo que resolvesse isso?”
Tende a produzir opinião, cortesia ou intenção hipotética.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88920"/>
            <a:ext cx="5029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2788920"/>
            <a:ext cx="82296" cy="20116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926079"/>
            <a:ext cx="4663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PERGUNTA QUE INVESTIGA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383279"/>
            <a:ext cx="4617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“Conte a última vez em que isso aconteceu. O que você fez? Quanto tempo levou? O que foi mais difícil?”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E1E1E"/>
                </a:solidFill>
              </a:rPr>
              <a:t>Qual das duas perguntas fornece evidência mais útil para decidir se vale construir algo?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Método depende daquilo que queremos aprender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82296" cy="214884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ENTREVISTA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24027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Entender contexto, linguagem, motivações, experiências e causas.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29000" y="1417320"/>
            <a:ext cx="82296" cy="21488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QUESTIONÁRIO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011680"/>
            <a:ext cx="224027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Observar distribuição de respostas e padrões em um grupo maior.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82296" cy="214884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OBSERVAÇÃO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224027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Ver o que as pessoas fazem, inclusive quando fazem algo diferente do que dizem.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417320"/>
            <a:ext cx="2651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40" y="1417320"/>
            <a:ext cx="82296" cy="214884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554480"/>
            <a:ext cx="2286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62640"/>
                </a:solidFill>
              </a:rPr>
              <a:t>EXPERIMENTO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011680"/>
            <a:ext cx="224027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Testar comportamento real diante de uma proposta, estímulo ou protótipo.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62640"/>
                </a:solidFill>
              </a:rPr>
              <a:t>Situação: uma equipe quer saber se alunos realmente esquecem prazos porque as informações estão dispersas. Qual método — ou combinação — geraria a melhor evidência?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Como entrevistar sem induzir a resposta?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Você criou uma solução e está convencido de que ela é boa. Como evitar transformar a entrevista em uma tentativa de venda?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Pergunte sobre fatos passados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Explore alternativas atuais e consequências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Evite explicar sua solução cedo demais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Laboratório de perguntas: o que há de errado aqui?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" cy="123444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3327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3E3E"/>
                </a:solidFill>
              </a:rPr>
              <a:t>“Você acha difícil se organizar?”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87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Vaga; incentiva resposta genérica.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82296" cy="123444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103327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“Você usaria nosso app se ele fosse gratuito?”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10287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Apresenta solução e mede intenção hipotética.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103327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3E3E"/>
                </a:solidFill>
              </a:rPr>
              <a:t>“Não seria melhor ter tudo em um único lugar?”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10287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Pergunta direcionada; sugere a resposta.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640"/>
                </a:solidFill>
              </a:rPr>
              <a:t>Desafio: reescreva cada pergunta para investigar comportamento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Uma entrevista pode seguir uma sequência simples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82296" cy="17373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1.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63239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Quem é a pessoa e em que situação o problema aparece?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60" y="1417320"/>
            <a:ext cx="82296" cy="17373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2. ÚLTIMA OCORRÊNCIA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011680"/>
            <a:ext cx="3063239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Conte a última vez em que isso aconteceu.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75320" y="1417320"/>
            <a:ext cx="82296" cy="17373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3. COMPORTAMENTO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11680"/>
            <a:ext cx="3063239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O que você fez para resolver?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661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82296" cy="173736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4. CONSEQUÊNCIA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3063239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Quanto tempo, dinheiro ou esforço isso exigiu?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5661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566160"/>
            <a:ext cx="82296" cy="173736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370332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5. ALTERNATIVAS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160520"/>
            <a:ext cx="3063239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 ferramentas, pessoas ou improvisos você usa hoje?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56616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75320" y="3566160"/>
            <a:ext cx="82296" cy="173736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370332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6. PRIORIDADE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160520"/>
            <a:ext cx="3063239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Entre seus problemas atuais, onde este aparece?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IA pode validar uma oportunidade?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Se uma IA gerar 100 respostas plausíveis de clientes, isso é evidência de mercado?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IA pode ajudar a preparar perguntas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IA pode apoiar organização e categorização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IA não substitui contato com o público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Uso responsável de IA na validação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" cy="182880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USOS ÚTEIS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800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Revisar roteiro; detectar perguntas tendenciosas; sugerir categorias iniciais; resumir entrevistas; apoiar análise exploratória.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82296" cy="1828800"/>
          </a:xfrm>
          <a:prstGeom prst="rect">
            <a:avLst/>
          </a:prstGeom>
          <a:solidFill>
            <a:srgbClr val="AE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AE3E3E"/>
                </a:solidFill>
              </a:rPr>
              <a:t>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800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Respostas sintéticas não provam demanda; modelos podem reproduzir vieses; sínteses podem apagar divergências; dados pessoais exigem cuidado.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2640"/>
                </a:solidFill>
              </a:rPr>
              <a:t>Caso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E1E1E"/>
                </a:solidFill>
              </a:rPr>
              <a:t>Após 12 entrevistas, a equipe envia as transcrições para uma IA e pede “diga se nossa ideia foi validada”. Que problemas metodológicos existem nessa decisão?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Atividade em equipe: transformar suposições em investigação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82296" cy="429768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463039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1 · DELIMITE O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297180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Escreva uma frase específica.
Quem vive o problema?
Em qual contexto?
Com que característica relevante?
Evite: “todo mundo”, “empresas”, “jovens”.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82296" cy="429768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463039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2 · CRIE UMA PERSONA PROVISÓRIA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7180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Contexto
Objetivos
Dores
Comportamento atual
Alternativas
Barreiras
Marque explicitamente o que ainda é hipótese.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82296" cy="429768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463039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3 · ROTEIRO DE ENTREVISTA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297180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Elabore 8–10 perguntas.
Investigue fatos, frequência, consequências e soluções atuais.
Não apresente a solução nas primeiras perguntas.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640"/>
                </a:solidFill>
              </a:rPr>
              <a:t>Produto da aula: público-alvo + persona provisória + roteiro de validação.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640"/>
                </a:solidFill>
              </a:rPr>
              <a:t>Revisão cruzada entre equipes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10698480" cy="1828800"/>
          </a:xfrm>
          <a:prstGeom prst="round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27632"/>
            <a:ext cx="1005840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</a:rPr>
              <a:t>Se eu fosse um entrevistado, as perguntas de vocês me fariam contar experiências reais ou apenas opinar sobre a ideia?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657600"/>
            <a:ext cx="82296" cy="1417320"/>
          </a:xfrm>
          <a:prstGeom prst="rect">
            <a:avLst/>
          </a:prstGeom>
          <a:solidFill>
            <a:srgbClr val="21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167AC"/>
                </a:solidFill>
              </a:rPr>
              <a:t>Para discutir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Há perguntas que induzem?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3657600"/>
            <a:ext cx="82296" cy="1417320"/>
          </a:xfrm>
          <a:prstGeom prst="rect">
            <a:avLst/>
          </a:prstGeom>
          <a:solidFill>
            <a:srgbClr val="E3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37E22"/>
                </a:solidFill>
              </a:rPr>
              <a:t>Para discutir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As hipóteses estão explícitas?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657600"/>
            <a:ext cx="82296" cy="1417320"/>
          </a:xfrm>
          <a:prstGeom prst="rect">
            <a:avLst/>
          </a:prstGeom>
          <a:solidFill>
            <a:srgbClr val="2F7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2F7D5E"/>
                </a:solidFill>
              </a:rPr>
              <a:t>Para discutir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251960"/>
            <a:ext cx="2971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E1E1E"/>
                </a:solidFill>
              </a:rPr>
              <a:t>Que resposta faria a equipe mudar de direção?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B4CDE6"/>
                </a:solidFill>
              </a:rPr>
              <a:t>PARA ENCERRAR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Uma boa equipe não procura
confirmar que está certa.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Procura descobrir rapidamente onde pode estar errada.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4CDE6"/>
                </a:solidFill>
              </a:rPr>
              <a:t>Próxima aula: mercado, concorrência e proposta de valor.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8480" y="664768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FFFFF"/>
                </a:solidFill>
              </a:rPr>
              <a:t>Aula 4 ·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1444</Words>
  <Application>Microsoft Macintosh PowerPoint</Application>
  <PresentationFormat>Widescreen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Beluzo</cp:lastModifiedBy>
  <cp:revision>2</cp:revision>
  <dcterms:created xsi:type="dcterms:W3CDTF">2013-01-27T09:14:16Z</dcterms:created>
  <dcterms:modified xsi:type="dcterms:W3CDTF">2026-08-14T13:46:45Z</dcterms:modified>
  <cp:category/>
</cp:coreProperties>
</file>