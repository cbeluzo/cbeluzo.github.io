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6012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B4CDE6"/>
                </a:solidFill>
              </a:rPr>
              <a:t>AULA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899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</a:rPr>
              <a:t>Mercado, concorrência e
proposta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Ter um problema real não basta: é preciso entender quantas pessoas o enfrentam, como o resolvem hoje e por que escolheriam uma alternativa.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Da validação para o mercado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600200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Se dez pessoas confirmaram que o problema existe, já podemos dizer que existe uma oportunidade de negócio?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Evidência de problema ≠ tamanho de mercado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Quem mais enfrenta a mesma situação?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Existe disposição para mudar ou pagar?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Mercado não é sinônimo de “todo mundo que poderia usar”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Mercado precisa ser delimitado por cliente, necessidade, contexto e capacidade de atendimento.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27048"/>
            <a:ext cx="4892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DEFINIÇÃO OPERACIONAL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48463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Conjunto de clientes ou organizações com uma necessidade relevante e condições para adquirir, adotar ou utilizar determinada solução.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182880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27048"/>
            <a:ext cx="4892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PERGUNTA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47672"/>
            <a:ext cx="48463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Se 30 milhões de brasileiros têm smartphone, isso significa que o mercado de qualquer aplicativo é de 30 milhões de pessoas?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62640"/>
                </a:solidFill>
              </a:rPr>
              <a:t>O tamanho de uma população só vira informação de mercado quando está ligado ao problema, ao segmento e à forma como a solução gera valor.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Situação-problema: qual é o mercado?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600200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Uma equipe cria uma plataforma para ajudar pequenos restaurantes de Campinas a reduzir desperdício de alimentos. Qual número deveria usar como ponto de partida?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População de Campinas?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Número de restaurantes?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Restaurantes com o problema e perfil atendível?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TAM, SAM e SOM: três perguntas diferentes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36118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73152" cy="214884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8132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TAM · TOTAL ADDRESSABLE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01952"/>
            <a:ext cx="32461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Qual seria o mercado total se pudéssemos atender todos os clientes compatíveis com a necessidade?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118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73152" cy="214884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8132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SAM · SERVICEABLE AVAILABLE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01952"/>
            <a:ext cx="32461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Que parcela do TAM está dentro do segmento, território, canal ou capacidade que nosso modelo consegue atender?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71600"/>
            <a:ext cx="36118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71600"/>
            <a:ext cx="73152" cy="21488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8132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SOM · SERVICEABLE OBTAINABLE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901952"/>
            <a:ext cx="32461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Que parcela do SAM é realisticamente alcançável no horizonte inicial do projeto?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62640"/>
                </a:solidFill>
              </a:rPr>
              <a:t>TAM mostra o universo. SAM introduz foco. SOM introduz realidade.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Caso numérico: do universo ao mercado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</a:rPr>
              <a:t>Os valores são didáticos: o importante é explicitar as premissas.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73152" cy="201168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81328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01952"/>
            <a:ext cx="3108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20.000 estabelecimentos potencialmente compatíveis × R$ 200/mês = R$ 48 milhões/ano.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73152" cy="201168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81328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01952"/>
            <a:ext cx="3108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5.000 estabelecimentos no território e segmento atendível × R$ 200/mês = R$ 12 milhões/ano.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71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371600"/>
            <a:ext cx="73152" cy="201168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481328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901952"/>
            <a:ext cx="3108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150 clientes plausíveis nos primeiros anos × R$ 200/mês = R$ 360 mil/ano.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62640"/>
                </a:solidFill>
              </a:rPr>
              <a:t>Pergunta: qual desses três números deveria orientar a meta comercial inicial?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</a:rPr>
              <a:t>E qual deles seria mais fácil “inflar” em uma apresentação?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Tamanho de mercado: precisão ou transparência?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600200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É melhor apresentar um número muito grande com fonte genérica ou uma estimativa menor construída com premissas explícitas?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Que dados sustentam o cálculo?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Quais filtros foram aplicados?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O que mudaria a estimativa?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Duas formas de estimar: de cima para baixo e de baixo para cima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12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214884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27048"/>
            <a:ext cx="4892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TOP-DOWN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47672"/>
            <a:ext cx="48463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Parte de dados agregados: população, número de empresas, faturamento do setor. Depois aplica filtros até chegar ao segmento relevante.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21488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527048"/>
            <a:ext cx="4892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BOTTOM-UP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47672"/>
            <a:ext cx="48463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Parte da unidade econômica: número plausível de clientes × preço ou gasto médio × frequência. Obriga a explicitar como o negócio realmente chegaria ao mercado.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62640"/>
                </a:solidFill>
              </a:rPr>
              <a:t>Pergunta: se as duas abordagens produzirem resultados muito diferentes, o que isso revela sobre nossas premissas?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“Não temos concorrentes.” Isso é uma boa notícia?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600200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Se ninguém oferece exatamente o mesmo produto, significa que o cliente não possui alternativas?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Concorrente direto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Concorrente indireto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Solução substituta / não fazer nada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Concorrência é disputa pela mesma necessidade - não pela mesma tecnologia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36118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73152" cy="214884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52704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DIRETA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47672"/>
            <a:ext cx="32461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Atende problema e público semelhantes com solução comparável.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17320"/>
            <a:ext cx="36118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73152" cy="214884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52704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INDIRETA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47672"/>
            <a:ext cx="32461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Atende a mesma necessidade por outro caminho, formato ou modelo.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6118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417320"/>
            <a:ext cx="73152" cy="21488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52704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SUBSTITUTA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947672"/>
            <a:ext cx="32461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Planilha, WhatsApp, papel, processo manual, contratação de uma pessoa ou simplesmente tolerar o problema.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62640"/>
                </a:solidFill>
              </a:rPr>
              <a:t>O concorrente mais importante pode não ser uma empresa: pode ser o hábito atual do usuário.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Caso: aplicativo de organização acadêmica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600200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O que realmente concorre com um novo aplicativo para organizar atividades e prazos de estudantes?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Google Calendar / Trello?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WhatsApp e grupos da turma?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Agenda, memória e “deixar para depois”?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Matriz de concorrência: comparar aquilo que importa para o cliente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2926080" cy="658368"/>
          </a:xfrm>
          <a:prstGeom prst="rect">
            <a:avLst/>
          </a:prstGeom>
          <a:solidFill>
            <a:srgbClr val="16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53896"/>
            <a:ext cx="283464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Critério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0440" y="1417320"/>
            <a:ext cx="1828800" cy="658368"/>
          </a:xfrm>
          <a:prstGeom prst="rect">
            <a:avLst/>
          </a:prstGeom>
          <a:solidFill>
            <a:srgbClr val="16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453896"/>
            <a:ext cx="17373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Projeto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349240" y="1417320"/>
            <a:ext cx="1828800" cy="658368"/>
          </a:xfrm>
          <a:prstGeom prst="rect">
            <a:avLst/>
          </a:prstGeom>
          <a:solidFill>
            <a:srgbClr val="16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453896"/>
            <a:ext cx="17373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Conc. A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417320"/>
            <a:ext cx="1828800" cy="658368"/>
          </a:xfrm>
          <a:prstGeom prst="rect">
            <a:avLst/>
          </a:prstGeom>
          <a:solidFill>
            <a:srgbClr val="16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453896"/>
            <a:ext cx="17373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Conc.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417320"/>
            <a:ext cx="1828800" cy="658368"/>
          </a:xfrm>
          <a:prstGeom prst="rect">
            <a:avLst/>
          </a:prstGeom>
          <a:solidFill>
            <a:srgbClr val="162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453896"/>
            <a:ext cx="17373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Substituto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075688"/>
            <a:ext cx="29260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28346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E1E1E"/>
                </a:solidFill>
              </a:rPr>
              <a:t>Problema resolvido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075688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103120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2075688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103120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2075688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103120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2075688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103120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734056"/>
            <a:ext cx="29260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61488"/>
            <a:ext cx="28346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E1E1E"/>
                </a:solidFill>
              </a:rPr>
              <a:t>Público prioritário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2734056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2761488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2734056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2761488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2734056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761488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2734056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2761488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3392424"/>
            <a:ext cx="29260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419856"/>
            <a:ext cx="28346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E1E1E"/>
                </a:solidFill>
              </a:rPr>
              <a:t>Facilidade de uso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3392424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3419856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49240" y="3392424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0" y="3419856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3392424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0" y="3419856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3392424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3419856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4050791"/>
            <a:ext cx="29260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078224"/>
            <a:ext cx="28346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E1E1E"/>
                </a:solidFill>
              </a:rPr>
              <a:t>Preço / esforço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050791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4078224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49240" y="4050791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0" y="4078224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78040" y="4050791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23760" y="4078224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4050791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4078224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4709159"/>
            <a:ext cx="29260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736592"/>
            <a:ext cx="283464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E1E1E"/>
                </a:solidFill>
              </a:rPr>
              <a:t>Diferencial percebido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20440" y="4709159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66160" y="4736592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4709159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94960" y="4736592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78040" y="4709159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23760" y="4736592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●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06840" y="4709159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52560" y="4736592"/>
            <a:ext cx="17373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</a:rPr>
              <a:t>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55778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62640"/>
                </a:solidFill>
              </a:rPr>
              <a:t>A matriz não serve para provar que somos melhores. Serve para descobrir onde realmente somos diferentes - e onde não somos.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Diferencial para quem?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600200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“Nosso sistema usa inteligência artificial.” Isso é uma proposta de valor ou apenas uma característica técnica?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Que benefício a tecnologia produz?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O cliente percebe esse benefício?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 diferença é difícil de substituir?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Proposta de valor: por que alguém mudaria o que faz hoje?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2640"/>
                </a:solidFill>
              </a:rPr>
              <a:t>Proposta de valor descreve o benefício relevante entregue a um público específico diante de um problema ou necessidade.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514600"/>
            <a:ext cx="73152" cy="196596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624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QUEM?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044952"/>
            <a:ext cx="30175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Segmento prioritário e contexto de uso.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51460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514600"/>
            <a:ext cx="73152" cy="196596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624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QUAL GANHO?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044952"/>
            <a:ext cx="30175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Dor reduzida, tarefa facilitada, risco evitado ou resultado melhor.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51460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514600"/>
            <a:ext cx="73152" cy="196596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624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POR QUE ESTA ALTERNATIVA?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044952"/>
            <a:ext cx="301752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Diferença relevante em relação ao que o público já faz.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E1E1E"/>
                </a:solidFill>
              </a:rPr>
              <a:t>Tecnologia é meio. Valor é a mudança percebida pelo cliente ou usuário.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Qual frase comunica melhor o valor?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20574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27048"/>
            <a:ext cx="4892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CARACTERÍSTICA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47672"/>
            <a:ext cx="48463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E1E1E"/>
                </a:solidFill>
              </a:rPr>
              <a:t>“Plataforma web responsiva com IA, dashboard e notificações em tempo real.”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20574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527048"/>
            <a:ext cx="4892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VALOR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47672"/>
            <a:ext cx="48463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E1E1E"/>
                </a:solidFill>
              </a:rPr>
              <a:t>“Ajuda pequenos estabelecimentos a identificar períodos de maior espera e orientar clientes, reduzindo incerteza no atendimento.”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62640"/>
                </a:solidFill>
              </a:rPr>
              <a:t>Pergunta: o que a segunda frase permite discutir que a primeira esconde?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</a:rPr>
              <a:t>Agora tente transformar uma característica técnica do projeto da equipe em benefício observável.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O que conta como evidência de oportunidade?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600200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Qual combinação seria mais convincente: pessoas dizendo que gostam da ideia ou sinais de que o problema já produz comportamento e custo?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Frequência e consequência do problema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Alternativas já utilizadas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Tempo, dinheiro ou esforço já despendidos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Um mercado grande não salva um problema fraco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3152" cy="210312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27048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CENÁRIO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47672"/>
            <a:ext cx="3108960" cy="1463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Mercado potencial enorme, mas entrevistas mostram baixa urgência e nenhuma mudança de comportamento.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73152" cy="21031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27048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CENÁRIO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47672"/>
            <a:ext cx="3108960" cy="1463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Mercado menor, mas usuários gastam tempo e dinheiro tentando resolver o problema hoje.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417320"/>
            <a:ext cx="73152" cy="21031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527048"/>
            <a:ext cx="31546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CENÁRIO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947672"/>
            <a:ext cx="3108960" cy="1463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Problema relevante, mercado plausível, mas concorrentes já resolvem muito bem e com baixo custo.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62640"/>
                </a:solidFill>
              </a:rPr>
              <a:t>Qual cenário parece mais promissor? Que informação adicional você exigiria antes de decidir?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Atividade em equipe: transformar a oportunidade em números e comparações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36118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73152" cy="43434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8988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1 · TAM, SAM E SOM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10512"/>
            <a:ext cx="324612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Defina a unidade de mercado.
Busque dados e explicite as fontes.
Construa TAM, SAM e SOM.
Registre todas as premissas do cálculo.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6118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73152" cy="434340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38988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2 · MATRIZ DE CONCORRÊNCIA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810512"/>
            <a:ext cx="324612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Inclua concorrentes diretos, indiretos e pelo menos uma solução substituta.
Escolha critérios relevantes para o usuário - não apenas funcionalidades.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80160"/>
            <a:ext cx="36118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280160"/>
            <a:ext cx="73152" cy="43434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389888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3 · PROPOSTA DE VALOR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10512"/>
            <a:ext cx="324612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Escreva em uma frase:
para quem;
qual problema relevante;
qual benefício;
por que a proposta é diferente das alternativas atuais.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640"/>
                </a:solidFill>
              </a:rPr>
              <a:t>Produto da aula: matriz de concorrência + estimativa preliminar de mercado.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Teste de consistência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600200"/>
            <a:ext cx="10104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Se mudarmos o público-alvo, o TAM/SAM/SOM, os concorrentes e a proposta de valor deveriam continuar iguais?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Mercado depende do segmento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Concorrência depende da necessidade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6732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87952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Valor depende da alternativa atual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4CDE6"/>
                </a:solidFill>
              </a:rPr>
              <a:t>FECHAMENTO DO BLOCO EXPOSITIVO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</a:rPr>
              <a:t>Problema real + público definido + evidências + mercado + alternativas +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Esses elementos formam a base da validação da oportunidade de negócio.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4CDE6"/>
                </a:solidFill>
              </a:rPr>
              <a:t>Próxima aula: oficina de validação do problema e da oportunidade - consolidação do Trabalho 1.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638544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5 ·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