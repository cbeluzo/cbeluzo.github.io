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B4CDE6"/>
                </a:solidFill>
              </a:rPr>
              <a:t>AULA 11 · BLOCO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</a:rPr>
              <a:t>Prototipação e experimentação
com inteligência artificial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Como transformar uma hipótese em algo testável sem confundir velocidade de construção com qualidade da validação.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0916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B4CDE6"/>
                </a:solidFill>
              </a:rPr>
              <a:t>Produto da aula: protótipo inicial ou representação funcional da solução.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638544"/>
            <a:ext cx="12344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11 ·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Retomando a Aula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53312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72768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Já escolhemos uma hipótese e um tipo de MVP. O que exatamente precisamos construir para colocá-la diante de alguém e aprender?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Para pensar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Representação suficiente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Para pensar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Interação observável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Para pensar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Evidência para decidir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0" y="6638544"/>
            <a:ext cx="12344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11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Protótipo, prova de conceito e MVP não são sinônimos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36118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73152" cy="306324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41732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PROTÓTIPO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37943"/>
            <a:ext cx="3246120" cy="2459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Representa uma solução ou parte dela para explorar forma, fluxo, interação, serviço ou processo. Pode não executar de verdade.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6118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325880"/>
            <a:ext cx="73152" cy="3063240"/>
          </a:xfrm>
          <a:prstGeom prst="rect">
            <a:avLst/>
          </a:prstGeom>
          <a:solidFill>
            <a:srgbClr val="694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41732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6946A0"/>
                </a:solidFill>
              </a:rPr>
              <a:t>PROVA DE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837943"/>
            <a:ext cx="3246120" cy="2459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Busca demonstrar que um princípio técnico ou abordagem é factível. O foco é a viabilidade técnica.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25880"/>
            <a:ext cx="36118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1325880"/>
            <a:ext cx="73152" cy="306324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141732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MVP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1837943"/>
            <a:ext cx="3246120" cy="2459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Combina o mínimo necessário para confrontar uma hipótese de negócio ou uso com evidência real.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92040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62640"/>
                </a:solidFill>
              </a:rPr>
              <a:t>O mesmo projeto pode usar os três em momentos diferentes.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0" y="6638544"/>
            <a:ext cx="12344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11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Quanto de fidelidade precisamos?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53312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72768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Para descobrir se o usuário entende a sequência de cadastro, precisamos de banco de dados, autenticação real e integração com serviços externos?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Para pensar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Pergunta do teste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Para pensar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Realismo necessário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Para pensar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Custo de construir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0" y="6638544"/>
            <a:ext cx="12344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11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Baixa, média e alta fidelidade: escolha pelo aprendizado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71600"/>
            <a:ext cx="36118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371600"/>
            <a:ext cx="73152" cy="274320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46304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BAIXA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83664"/>
            <a:ext cx="3246120" cy="21396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Esboços, papel, wireframes, storyboard, roteiro.
Útil para estrutura, sequência e compreensão inicial.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6118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371600"/>
            <a:ext cx="73152" cy="274320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46304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MÉDIA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883664"/>
            <a:ext cx="3246120" cy="21396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Telas organizadas, navegação simulada, conteúdo mais próximo do real.
Útil para fluxo e interação.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71600"/>
            <a:ext cx="36118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1371600"/>
            <a:ext cx="73152" cy="274320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146304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ALTA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1883664"/>
            <a:ext cx="3246120" cy="21396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Visual e comportamento próximos da solução final, com algumas funções reais ou simuladas.
Útil quando o teste exige maior realismo.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66344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62640"/>
                </a:solidFill>
              </a:rPr>
              <a:t>Alta fidelidade não é automaticamente melhor. Pode apenas ser mais cara.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0" y="6638544"/>
            <a:ext cx="12344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11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Situação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53312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72768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Uma equipe passa três semanas aperfeiçoando cores, ícones e animações antes de mostrar o fluxo a qualquer usuário. O que ela otimizou?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Para pensar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Aparência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Para pensar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Não necessariamente aprendizagem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Para pensar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Custo antes da evidência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0" y="6638544"/>
            <a:ext cx="12344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11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Nem todo protótipo precisa ser uma interface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36118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73152" cy="32461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41732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37943"/>
            <a:ext cx="3246120" cy="26426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Wireframes, telas, navegação, formulário, dashboard, chatbot simulado.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6118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325880"/>
            <a:ext cx="73152" cy="32461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41732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SERVIÇO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837943"/>
            <a:ext cx="3246120" cy="26426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Roteiro de atendimento, concierge, encenação, comunicação, sequência de contato.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25880"/>
            <a:ext cx="36118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1325880"/>
            <a:ext cx="73152" cy="3246120"/>
          </a:xfrm>
          <a:prstGeom prst="rect">
            <a:avLst/>
          </a:prstGeom>
          <a:solidFill>
            <a:srgbClr val="694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141732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6946A0"/>
                </a:solidFill>
              </a:rPr>
              <a:t>PROCESSO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1837943"/>
            <a:ext cx="3246120" cy="26426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Fluxograma, storyboard, BPMN simplificado, simulação de etapas e decisões.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7492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62640"/>
                </a:solidFill>
              </a:rPr>
              <a:t>A forma do protótipo deve representar aquilo que a hipótese precisa tornar observável.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0" y="6638544"/>
            <a:ext cx="12344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11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Qual representação faz sentido?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53312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72768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Se o valor está em reduzir o tempo de um processo interno de uma empresa, uma tela bonita é suficiente para testar a proposta?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Para pensar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Mapeie o processo atual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Para pensar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Simule a nova sequência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Para pensar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Observe tempo, erros e esforço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0" y="6638544"/>
            <a:ext cx="12344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11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IA generativa pode reduzir o custo de produzir variações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25880"/>
            <a:ext cx="26060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73152" cy="34747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417320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TEXTOS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837943"/>
            <a:ext cx="2240280" cy="287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Propostas de valor, chamadas, mensagens, roteiros, instruções, FAQs e versões alternativas.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325880"/>
            <a:ext cx="26060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46120" y="1325880"/>
            <a:ext cx="73152" cy="34747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47288" y="1417320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IMAGENS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7288" y="1837943"/>
            <a:ext cx="2240280" cy="287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Mockups, ilustrações, cenários, elementos visuais e referências de interface.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325880"/>
            <a:ext cx="26060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9320" y="1325880"/>
            <a:ext cx="73152" cy="34747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1417320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INTERFACES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1837943"/>
            <a:ext cx="2240280" cy="287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Wireframes, páginas, componentes, protótipos e código inicial.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1325880"/>
            <a:ext cx="26060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32520" y="1325880"/>
            <a:ext cx="73152" cy="3474720"/>
          </a:xfrm>
          <a:prstGeom prst="rect">
            <a:avLst/>
          </a:prstGeom>
          <a:solidFill>
            <a:srgbClr val="694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33688" y="1417320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6946A0"/>
                </a:solidFill>
              </a:rPr>
              <a:t>FLUXOS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1837943"/>
            <a:ext cx="2240280" cy="287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Jornadas, scripts, cenários de atendimento, processos e variações de experimento.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62640"/>
                </a:solidFill>
              </a:rPr>
              <a:t>A vantagem principal é testar mais alternativas antes de investir na implementação definitiva.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0" y="6638544"/>
            <a:ext cx="12344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11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IA cria; quem decide?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53312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72768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Se a IA gera cinco interfaces convincentes, qual delas é a melhor?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Para pensar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A que parece mais bonita?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Para pensar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A que segue o prompt?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Para pensar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A que produz melhor evidência no teste?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0" y="6638544"/>
            <a:ext cx="12344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11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Um bom prompt de prototipação começa pelo contexto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36118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73152" cy="342900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41732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37943"/>
            <a:ext cx="3246120" cy="2825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Quem é o usuário? Qual situação? Qual problema? Em que etapa da jornada?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6118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325880"/>
            <a:ext cx="73152" cy="3429000"/>
          </a:xfrm>
          <a:prstGeom prst="rect">
            <a:avLst/>
          </a:prstGeom>
          <a:solidFill>
            <a:srgbClr val="694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41732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6946A0"/>
                </a:solidFill>
              </a:rPr>
              <a:t>OBJETIVO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837943"/>
            <a:ext cx="3246120" cy="2825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Que tarefa ou comportamento o protótipo deve permitir observar?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25880"/>
            <a:ext cx="36118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1325880"/>
            <a:ext cx="73152" cy="342900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141732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RESTRIÇÕES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1837943"/>
            <a:ext cx="3246120" cy="2825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O que precisa aparecer? O que não precisa? Qual fidelidade? Que dados podem ou não ser usados?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62640"/>
                </a:solidFill>
              </a:rPr>
              <a:t>Prompt detalhado não substitui hipótese clara; ele apenas traduz melhor a intenção para a ferramenta.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0" y="6638544"/>
            <a:ext cx="12344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11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Exemplo: do pedido genérico ao pedido testável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530352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73152" cy="3520440"/>
          </a:xfrm>
          <a:prstGeom prst="rect">
            <a:avLst/>
          </a:prstGeom>
          <a:solidFill>
            <a:srgbClr val="A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417320"/>
            <a:ext cx="4983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E3E3E"/>
                </a:solidFill>
              </a:rPr>
              <a:t>PEDIDO GENÉRICO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837943"/>
            <a:ext cx="4937759" cy="2916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“Crie um aplicativo moderno para organizar estudos.”
Problema: a ferramenta precisa inventar usuário, fluxo, funcionalidades e critérios.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530352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325880"/>
            <a:ext cx="73152" cy="352044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417320"/>
            <a:ext cx="4983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PEDIDO ORIENTADO AO TESTE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837943"/>
            <a:ext cx="4937759" cy="2916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“Crie um protótipo navegável de baixa/média fidelidade para estudantes universitários. Quero testar se eles entendem como selecionar uma disciplina, registrar uma tarefa e visualizar o que vence nesta semana. Limite o fluxo a essas três ações.”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62640"/>
                </a:solidFill>
              </a:rPr>
              <a:t>Quanto mais clara a hipótese, menos a IA precisa inventar o produto.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0" y="6638544"/>
            <a:ext cx="12344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11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A IA inventou uma função ótima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53312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72768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Durante a geração, a ferramenta acrescenta ranking, gamificação e chatbot. Devemos manter porque “ficou legal”?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Para pensar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Está ligada à hipótese?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Para pensar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Altera o comportamento testado?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Para pensar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Aumenta complexidade sem evidência?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0" y="6638544"/>
            <a:ext cx="12344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11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Qualidade: geração rápida exige revisão humana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36118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73152" cy="333756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41732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COERÊNCIA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37943"/>
            <a:ext cx="3246120" cy="2734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O protótipo representa o problema, público, jornada e proposta de valor definidos pela equipe?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6118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325880"/>
            <a:ext cx="73152" cy="3337560"/>
          </a:xfrm>
          <a:prstGeom prst="rect">
            <a:avLst/>
          </a:prstGeom>
          <a:solidFill>
            <a:srgbClr val="A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41732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E3E3E"/>
                </a:solidFill>
              </a:rPr>
              <a:t>CORREÇÃO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837943"/>
            <a:ext cx="3246120" cy="2734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Textos, fluxos, dados, regras e comportamentos fazem sentido? Há invenções ou contradições?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25880"/>
            <a:ext cx="36118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1325880"/>
            <a:ext cx="73152" cy="333756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141732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TESTABILIDADE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1837943"/>
            <a:ext cx="3246120" cy="2734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Uma pessoa consegue executar a tarefa necessária e gerar a evidência que queremos observar?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6636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62640"/>
                </a:solidFill>
              </a:rPr>
              <a:t>“A IA gerou” não é critério de qualidade.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0" y="6638544"/>
            <a:ext cx="12344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11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Dados reais no prompt?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53312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72768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Para gerar um protótipo de atendimento, devemos copiar para uma ferramenta de IA dados pessoais de clientes, planilhas internas ou documentos confidenciais?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Para pensar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Necessidade real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Para pensar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Minimização e anonimização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Para pensar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Políticas e autorização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0" y="6638544"/>
            <a:ext cx="12344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11 ·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Privacidade: prototipar não justifica expor dados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36118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73152" cy="338328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41732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PREFIRA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37943"/>
            <a:ext cx="3246120" cy="2779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Dados fictícios, sintéticos, anonimizados ou exemplos construídos especificamente para o teste.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6118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325880"/>
            <a:ext cx="73152" cy="3383280"/>
          </a:xfrm>
          <a:prstGeom prst="rect">
            <a:avLst/>
          </a:prstGeom>
          <a:solidFill>
            <a:srgbClr val="A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41732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E3E3E"/>
                </a:solidFill>
              </a:rPr>
              <a:t>EVITE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837943"/>
            <a:ext cx="3246120" cy="2779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Dados pessoais, credenciais, informações estratégicas, código sigiloso ou documentos internos sem autorização.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25880"/>
            <a:ext cx="36118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1325880"/>
            <a:ext cx="73152" cy="338328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141732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PERGUNTE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1837943"/>
            <a:ext cx="3246120" cy="2779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A ferramenta precisa mesmo desse dado para gerar o protótipo? Há alternativa menos sensível?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62640"/>
                </a:solidFill>
              </a:rPr>
              <a:t>Qualidade do experimento inclui responsabilidade sobre os dados usados para construí-lo.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0" y="6638544"/>
            <a:ext cx="12344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11 ·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O ciclo não termina quando o protótipo fica pronto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2121408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417320"/>
            <a:ext cx="73152" cy="3108960"/>
          </a:xfrm>
          <a:prstGeom prst="rect">
            <a:avLst/>
          </a:prstGeom>
          <a:solidFill>
            <a:srgbClr val="694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508760"/>
            <a:ext cx="180136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6946A0"/>
                </a:solidFill>
              </a:rPr>
              <a:t>1 · HIPÓTESE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929384"/>
            <a:ext cx="1755648" cy="2505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O que acreditamos?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15768" y="1417320"/>
            <a:ext cx="2121408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15768" y="1417320"/>
            <a:ext cx="73152" cy="310896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16936" y="1508760"/>
            <a:ext cx="180136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2 · PROTÓTIPO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16936" y="1929384"/>
            <a:ext cx="1755648" cy="2505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Que representação permite testar?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0056" y="1417320"/>
            <a:ext cx="2121408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0056" y="1417320"/>
            <a:ext cx="73152" cy="310896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21224" y="1508760"/>
            <a:ext cx="180136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3 · TESTE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1224" y="1929384"/>
            <a:ext cx="1755648" cy="2505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Coloque diante do público adequado.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24344" y="1417320"/>
            <a:ext cx="2121408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24344" y="1417320"/>
            <a:ext cx="73152" cy="310896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5512" y="1508760"/>
            <a:ext cx="180136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4 · APRENDIZADO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2" y="1929384"/>
            <a:ext cx="1755648" cy="2505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O que a evidência mudou?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28632" y="1417320"/>
            <a:ext cx="2121408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28632" y="1417320"/>
            <a:ext cx="73152" cy="3108960"/>
          </a:xfrm>
          <a:prstGeom prst="rect">
            <a:avLst/>
          </a:prstGeom>
          <a:solidFill>
            <a:srgbClr val="A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800" y="1508760"/>
            <a:ext cx="180136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E3E3E"/>
                </a:solidFill>
              </a:rPr>
              <a:t>5 · AJUSTE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1929384"/>
            <a:ext cx="1755648" cy="2505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Manter, modificar ou descartar?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983480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62640"/>
                </a:solidFill>
              </a:rPr>
              <a:t>A IA acelera principalmente a etapa 2. O aprendizado continua dependendo das etapas 3, 4 e 5.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60" y="6638544"/>
            <a:ext cx="12344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11 ·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Protótipo sem usuário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53312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72768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Uma equipe cria dez versões com IA, compara internamente e escolhe a favorita. Isso é experimentação de mercado?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Para pensar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É exploração interna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Para pensar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Ainda falta contato externo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Para pensar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Preferência da equipe ≠ comportamento do cliente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0" y="6638544"/>
            <a:ext cx="12344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11 ·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Exemplo de experimento com 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36118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73152" cy="3474720"/>
          </a:xfrm>
          <a:prstGeom prst="rect">
            <a:avLst/>
          </a:prstGeom>
          <a:solidFill>
            <a:srgbClr val="694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41732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6946A0"/>
                </a:solidFill>
              </a:rPr>
              <a:t>HIPÓTESE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37943"/>
            <a:ext cx="3246120" cy="287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“Estudantes abandonam porque não entendem rapidamente a proposta de valor.”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6118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325880"/>
            <a:ext cx="73152" cy="34747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41732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PROTOTIPAÇÃO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837943"/>
            <a:ext cx="3246120" cy="287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Usar IA para criar três versões da chamada principal e uma landing page simples para cada versão.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25880"/>
            <a:ext cx="36118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1325880"/>
            <a:ext cx="73152" cy="34747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141732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TESTE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1837943"/>
            <a:ext cx="3246120" cy="287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Expor versões ao público e observar compreensão, clique/cadastro, dúvidas e abandono.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62640"/>
                </a:solidFill>
              </a:rPr>
              <a:t>A IA produz as alternativas; a resposta do público orienta a decisão.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0" y="6638544"/>
            <a:ext cx="12344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11 ·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Atividade: construir a primeira representação funcional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36118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73152" cy="4434840"/>
          </a:xfrm>
          <a:prstGeom prst="rect">
            <a:avLst/>
          </a:prstGeom>
          <a:solidFill>
            <a:srgbClr val="694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32588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6946A0"/>
                </a:solidFill>
              </a:rPr>
              <a:t>1 · RECUPERE A HIPÓTESE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746504"/>
            <a:ext cx="3246120" cy="38313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Use a hipótese escolhida na Aula 10.
Defina a tarefa ou comportamento que precisa ser observado.
Não amplie o escopo.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34440"/>
            <a:ext cx="36118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234440"/>
            <a:ext cx="73152" cy="443484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32588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2 · PROTOTIPE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746504"/>
            <a:ext cx="3246120" cy="38313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Escolha fidelidade e formato.
Use IA quando ela reduzir esforço: textos, imagens, telas, código, scripts ou fluxos.
Use dados fictícios/sintéticos.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34440"/>
            <a:ext cx="36118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1234440"/>
            <a:ext cx="73152" cy="443484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132588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3 · PREPARE O TESTE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1746504"/>
            <a:ext cx="3246120" cy="38313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Quem vai testar?
Qual tarefa realizará?
O que será observado?
Que resultado aumentará ou reduzirá confiança?
O que será revisado?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62640"/>
                </a:solidFill>
              </a:rPr>
              <a:t>Produto da aula: protótipo inicial ou representação funcional da solução.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0" y="6638544"/>
            <a:ext cx="12344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11 ·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Critério de saída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53312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72768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Seu protótipo está pronto para a próxima etapa quando parece profissional ou quando consegue colocar a hipótese diante de alguém e gerar evidência?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Para pensar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Suficiente para testar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Para pensar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Sem funcionalidades supérfluas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Para pensar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Com critério de observação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0" y="6638544"/>
            <a:ext cx="12344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11 ·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B4CDE6"/>
                </a:solidFill>
              </a:rPr>
              <a:t>FECHAMENTO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100" b="1">
                <a:solidFill>
                  <a:srgbClr val="FFFFFF"/>
                </a:solidFill>
              </a:rPr>
              <a:t>Prototipar rápido só tem valor
quando aprendemos mais rápido.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B4CDE6"/>
                </a:solidFill>
              </a:rPr>
              <a:t>Próxima aula: oficina de modelo de negócio e MVP - revisão do BMC, jornada, funcionalidades, hipóteses e preparação do protótipo.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6638544"/>
            <a:ext cx="12344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11 ·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