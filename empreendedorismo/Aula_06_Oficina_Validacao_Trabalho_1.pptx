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B4CDE6"/>
                </a:solidFill>
              </a:rPr>
              <a:t>AULA 6 · OFICINA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89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</a:rPr>
              <a:t>Validação do problema
e da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Hoje não vamos acrescentar uma nova ferramenta. Vamos testar se a história construída pelas equipes se sustenta quando as evidências são colocadas lado a lado.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teste central da oficina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retirarmos a solução imaginada, ainda conseguimos demonstrar que existe um problema relevante e uma oportunidade?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Problema claramente formulado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Público delimitado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Evidências independentes da solução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Trabalho 1 precisa contar uma história coerente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Cada elemento deve sustentar o seguinte.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7373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6304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1.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8366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acontece e por que importa?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17373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6304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2. 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Para quem isso é mais relevante?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73152" cy="17373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6304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3. EVIDÊNCIAS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8366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observamos no mundo real?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044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20440"/>
            <a:ext cx="73152" cy="17373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1188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4. ALTERNATIVAS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3250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Como resolvem hoje?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52044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520440"/>
            <a:ext cx="73152" cy="17373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61188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5. 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03250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Quantos clientes semelhantes existem?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4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3520440"/>
            <a:ext cx="73152" cy="17373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611880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6. VALOR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032504"/>
            <a:ext cx="3154680" cy="11338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Por que uma alternativa diferente poderia importar?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Procure contradições, não apenas lacunas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A persona diz uma coisa, as entrevistas mostram outra e o TAM foi calculado para um terceiro público. Qual versão representa o projeto?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público é o mesmo em todos os artefatos?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As evidências sustentam a declaração do problema?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Mercado e concorrentes correspondem ao mesmo segmento?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1 · Problema: sintoma, causa ou solução disfarçada?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FORMULAÇÃO FRACA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84632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“Falta um aplicativo para centralizar oportunidades acadêmicas.”
Isso descreve ausência de uma solução específica.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20574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FORMULAÇÃO INVESTIGÁVEL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484632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“Estudantes perdem oportunidades porque informações sobre programas, bolsas e eventos ficam dispersas em múltiplos canais.”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Pergunta para a equipe: qual evidência mostra que o problema é a dispersão - e não desinteresse, falta de tempo ou dificuldade com requisitos?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2 · Público: quem sente mais intensamente?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“Estudantes” é uma delimitação suficiente para orientar entrevistas, mercado e proposta de valor?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Qual contexto aumenta a dor?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Quem já tenta resolver o problema?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Quem tem maior urgência ou consequência?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3 · Persona: o que veio de evidência e o que ainda é hipótese?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2402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EVIDÊNCIA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10896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Comportamentos ou padrões efetivamente observados nas entrevistas, questionários ou contexto.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2402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INFERÊNCIA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29384"/>
            <a:ext cx="310896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Interpretação razoável feita pela equipe a partir dos dados, mas que precisa ser tratada com cautela.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24028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INVENÇÃO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29384"/>
            <a:ext cx="3108960" cy="1636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Detalhes adicionados para “completar” a persona sem relação demonstrada com o problema.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Marque no próprio artefato: E = evidência; H = hipótese. O que não for relevante para decisões pode ser retirado.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4 · Entrevistas: quantidade não corrige pergunta ruim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Dez respostas a “você usaria nosso app?” valem mais do que quatro relatos detalhados de episódios reais?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Perguntas investigaram fatos passados?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Amostra corresponde ao público definido?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Foram registradas respostas divergentes?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Do dado ao insight: não pule a etapa intermediária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21945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29384"/>
            <a:ext cx="3200400" cy="1591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“7 de 10 entrevistados relataram descobrir oportunidades principalmente por grupos de mensagens.”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417320"/>
            <a:ext cx="73152" cy="21945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INTERPRETAÇÃO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929384"/>
            <a:ext cx="3200400" cy="1591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 acesso depende de redes informais e pode variar conforme os grupos dos quais o aluno participa.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6" y="1417320"/>
            <a:ext cx="73152" cy="21945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50876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IMPLICAÇÃO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929384"/>
            <a:ext cx="3200400" cy="1591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Vale investigar se centralização, filtragem ou descoberta ativa reduziria oportunidades perdidas.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AE3E3E"/>
                </a:solidFill>
              </a:rPr>
              <a:t>Cuidado: “logo precisamos construir um aplicativo com IA” não é insight; é um salto prematuro para a solução.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5 · Revisão das hipóteses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Depois da pesquisa, alguma hipótese inicial caiu por terra? Se nenhuma mudou, a pesquisa realmente colocou as ideias da equipe em risco?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Hipóteses fortalecidas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Hipóteses enfraquecidas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Hipóteses ainda sem evidência suficiente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6 · Concorrência: o que o usuário faz hoje?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DIRETO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Solução semelhante para público e problema semelhantes.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1488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INDIRETO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Resolve a necessidade por outro modelo ou abordagem.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SUBSTITUTO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29384"/>
            <a:ext cx="3108960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Planilha, WhatsApp, busca manual, pessoa responsável, hábito atual ou simplesmente tolerar a 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Pergunta crítica: a matriz compara aquilo que o cliente valoriza ou apenas funcionalidades escolhidas para fazer o projeto parecer melhor?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7 · Mercado: cada número precisa de uma origem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a equipe disser que o TAM é de R$ 1 bilhão, qual deve ser a próxima pergunta?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Qual é a unidade de mercado?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Qual fonte e quais filtros foram usados?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Como TAM virou SAM e depois SOM?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Estação 8 · Proposta de valor: benefício, não lista de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Complete sem citar tecnologia: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10515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73152" cy="20116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31720"/>
            <a:ext cx="10195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FÓRMULA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52344"/>
            <a:ext cx="10149840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Para [segmento], que enfrenta [problema relevante], nossa proposta busca [benefício observável], diferenciando-se das alternativas atuais por [diferença relevante para o público].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E1E1E"/>
                </a:solidFill>
              </a:rPr>
              <a:t>Depois pergunte: qual parte dessa frase já está sustentada por evidência e qual ainda precisa ser validada?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Monte um “muro de evidências” da oportunidade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73152" cy="31089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0876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AFIRMAÇÃO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29384"/>
            <a:ext cx="2286000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estamos dizendo?
Ex.: o problema ocorre semanalmente.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73152" cy="31089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50876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EVIDÊNCIA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1929384"/>
            <a:ext cx="2286000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sustenta isso?
Ex.: 6 entrevistas + registros.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73152" cy="31089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50876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FORÇA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929384"/>
            <a:ext cx="2286000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Quão confiável é?
Forte / moderada / fraca.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173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417320"/>
            <a:ext cx="73152" cy="31089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50876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1929384"/>
            <a:ext cx="2286000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fazer agora?
Manter / revisar / investigar.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Se uma afirmação importante não tem evidência associada, ela continua sendo hipótese.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Revisão cruzada: outra equipe consegue encontrar os pontos frágeis?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Entregue seus artefatos a outra equipe. Ela deve fazer perguntas, não dar soluções.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Verifique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Qual afirmação parece menos sustentada?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Verifique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Onde há contradição entre artefatos?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Verifique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 evidência está faltando?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Preparando a apresentação de 8 a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A apresentação deve defender a oportunidade com evidências - não narrar cronologicamente tudo que a equipe fez.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6459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173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 ·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37943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Contexto + relevância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73152" cy="16459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4173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2 · 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837943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Segmento + persona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73152" cy="16459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4173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 ·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37943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Método + quem foi ouvido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258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25880"/>
            <a:ext cx="73152" cy="164592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6608" y="14173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4 · EVIDÊNCIAS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1837943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Resultados + aprendizados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383280"/>
            <a:ext cx="73152" cy="16459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4747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5 · 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895344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TAM / SAM / SOM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383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3383280"/>
            <a:ext cx="73152" cy="16459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4747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6 · CONCORRÊNCIA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895344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Alternativas + diferenças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383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383280"/>
            <a:ext cx="73152" cy="16459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4747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7 · VALOR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3895344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Proposta inicial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3832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3383280"/>
            <a:ext cx="73152" cy="164592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6608" y="3474720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8 · APRENDIZADO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3895344"/>
            <a:ext cx="2286000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que mudou após validar?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640"/>
                </a:solidFill>
              </a:rPr>
              <a:t>Slides são evidência visual: tabelas, sínteses, falas curtas, fontes e números explicados.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que enfraquece a apresentação?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EXCESSO DE NARRATIVA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83664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“Primeiro tivemos uma ideia, depois fizemos um formulário...”
O avaliador precisa entender o argumento, não o diário da equipe.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NÚMEROS SEM FONTE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83664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“Nosso mercado tem 10 milhões de pessoas.”
Sem unidade, fonte e premissas, o número não sustenta a oportunidade.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SOLUÇÃO DOMINANDO O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10896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Mostrar telas e tecnologia antes de demonstrar problema e oportunidade desloca o foco do Trabalho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Nesta entrega, a solução ainda é consequência. A evidência da oportunidade é o centro.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Checklist final antes de encerrar a oficina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7160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92224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Problema específico e sem solução embutida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59" y="1280160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137160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1792224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Público-alvo delimitado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12848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12848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24912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Persona coerente com os 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212848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212848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2304288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24912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Método de validação explicado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45536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145536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236976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657600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Evidências e divergências apresentadas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145536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145536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3236976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3657600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Concorrentes e substitutos reais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78224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078224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169663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590288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TAM, SAM e SOM com premissas e fontes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078224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4078224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4169663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4590288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Proposta de valor ligada às evidências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10912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010912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02352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522976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Contradições entre artefatos corrigidas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5010912"/>
            <a:ext cx="5212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5010912"/>
            <a:ext cx="73152" cy="749808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5102352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5522976"/>
            <a:ext cx="4846320" cy="1463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Apresentação cabe em 8–10 minutos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Sugestão de dinâmica para os 90 minutos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15544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0–15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37943"/>
            <a:ext cx="310896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Teste de coerência + orientação geral.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15544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15–50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37943"/>
            <a:ext cx="310896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Equipes revisam problema, público, evidências, concorrência e mercado.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15544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50–65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10896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Revisão cruzada entre equipes.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42900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429000"/>
            <a:ext cx="73152" cy="155448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35204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65–80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941064"/>
            <a:ext cx="310896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Correções e montagem da narrativa da apresentação.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2900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429000"/>
            <a:ext cx="73152" cy="155448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204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80–90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41064"/>
            <a:ext cx="310896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Pitch-relâmpago de 1 minuto por equipe: problema + evidência + oportunidade.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CDE6"/>
                </a:solidFill>
              </a:rPr>
              <a:t>SAÍDA DA OFICINA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</a:rPr>
              <a:t>Não basta ter todos os artefatos.
Eles precisam contar a mesma história.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A equipe deve conseguir mostrar o que acreditava, o que encontrou e o que mudou após confrontar suas hipóteses com evidências.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4CDE6"/>
                </a:solidFill>
              </a:rPr>
              <a:t>Próxima aula: apresentação avaliativa do Trabalho 1 - Validação da oportunidade de negócio.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63854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6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