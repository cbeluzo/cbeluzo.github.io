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de TI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498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AULA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680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como framework de governança e controle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89864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2019 • domínios • objetivos • componentes • desenho do sistema de governança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66760" y="1051560"/>
            <a:ext cx="2148840" cy="2148840"/>
          </a:xfrm>
          <a:prstGeom prst="ellipse">
            <a:avLst/>
          </a:prstGeom>
          <a:solidFill>
            <a:srgbClr val="C76A13">
              <a:alpha val="92000"/>
            </a:srgbClr>
          </a:solidFill>
          <a:ln w="12700">
            <a:solidFill>
              <a:srgbClr val="C76A1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2148840"/>
            <a:ext cx="2148840" cy="2148840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82128" y="2971800"/>
            <a:ext cx="2148840" cy="2148840"/>
          </a:xfrm>
          <a:prstGeom prst="ellipse">
            <a:avLst/>
          </a:prstGeom>
          <a:solidFill>
            <a:srgbClr val="A9C5D6">
              <a:alpha val="65000"/>
            </a:srgbClr>
          </a:solidFill>
          <a:ln w="12700">
            <a:solidFill>
              <a:srgbClr val="A9C5D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2148840"/>
            <a:ext cx="1097280" cy="205740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34640"/>
            <a:ext cx="868680" cy="64008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5897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CD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teoria • conceitos • aplicação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PONTO DE PARTIDA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 que usar um framework de governança?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10652760" cy="1828800"/>
          </a:xfrm>
          <a:prstGeom prst="roundRect">
            <a:avLst/>
          </a:prstGeom>
          <a:solidFill>
            <a:srgbClr val="C76A13">
              <a:alpha val="8000"/>
            </a:srgbClr>
          </a:solidFill>
          <a:ln w="15240">
            <a:solidFill>
              <a:srgbClr val="C76A13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96012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 cada área criar seus próprios processos, controles, papéis e métricas, como manter coerência, cobertura e integração em toda a organização?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3584" y="3054096"/>
            <a:ext cx="9555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Problema que os frameworks ajudam a estruturar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895344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895344"/>
            <a:ext cx="64008" cy="138988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5993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Linguagem comum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453128"/>
            <a:ext cx="304495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Cria conceitos e estruturas compartilhadas entre negócio, TI, auditoria, riscos e gestão.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16552" y="3895344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3895344"/>
            <a:ext cx="64008" cy="138988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405993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Cobertura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4453128"/>
            <a:ext cx="304495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Ajuda a evitar lacunas: estratégia, investimentos, riscos, projetos, operação, segurança e conformidade.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5864" y="3895344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5864" y="3895344"/>
            <a:ext cx="64008" cy="138988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4059936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Referência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38744" y="4453128"/>
            <a:ext cx="304495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Permite comparar práticas, definir responsabilidades, medir capacidade e priorizar melhorias.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CONTEXTO HISTÓRICO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COBIT: evolução do foco ao longo do tempo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52928"/>
            <a:ext cx="10287000" cy="0"/>
          </a:xfrm>
          <a:prstGeom prst="line">
            <a:avLst/>
          </a:prstGeom>
          <a:noFill/>
          <a:ln w="381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2596896"/>
            <a:ext cx="512064" cy="512064"/>
          </a:xfrm>
          <a:prstGeom prst="ellipse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5361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1996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1901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" y="333756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controle e auditoria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3730752" y="2596896"/>
            <a:ext cx="512064" cy="512064"/>
          </a:xfrm>
          <a:prstGeom prst="ellipse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5361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901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44952" y="333756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processos e objetivos de controle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035040" y="2596896"/>
            <a:ext cx="512064" cy="512064"/>
          </a:xfrm>
          <a:prstGeom prst="ellipse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5361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2005–07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901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4 / 4.1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333756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de TI e gestão por processos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8339328" y="2596896"/>
            <a:ext cx="512064" cy="512064"/>
          </a:xfrm>
          <a:prstGeom prst="ellipse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6408" y="15361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2012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99248" y="1901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53528" y="333756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empresarial de TI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10643616" y="2596896"/>
            <a:ext cx="512064" cy="512064"/>
          </a:xfrm>
          <a:prstGeom prst="ellipse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0696" y="15361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2018–19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03536" y="1901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2019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957816" y="3337560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de governança adaptável ao contexto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Brand &amp; Boonen e parte da bibliografia clássica refletem versões anteriores; a aula usa esses fundamentos, mas atualiza a terminologia para COBIT 2019.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POSICIONAMENTO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o COBIT 2019 é — e o que ele não 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358384" cy="4224528"/>
          </a:xfrm>
          <a:prstGeom prst="roundRect">
            <a:avLst>
              <a:gd name="adj" fmla="val 173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422452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5038344" cy="3529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Framework para governança e gestão de informação e tecnologia em âmbito empresarial.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Estrutura integrada de objetivos, componentes, métricas e práticas.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Referência para desenho de um sistema de governança adaptado ao contexto.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Ponte entre necessidades de stakeholders, objetivos empresariais e práticas de I&amp;T.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0096" cy="4224528"/>
          </a:xfrm>
          <a:prstGeom prst="roundRect">
            <a:avLst>
              <a:gd name="adj" fmla="val 173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64008" cy="422452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8191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Não 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975104"/>
            <a:ext cx="5020056" cy="3529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Um checklist que deve ser implementado integralmente.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Uma metodologia exclusiva de auditoria.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Um catálogo de ferramentas ou produtos tecnológicos.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Um substituto para estratégia, arquitetura, ITIL, normas de segurança ou métodos de desenvolvimento.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Uma garantia automática de boa governança.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COBIT orienta “o que precisa existir e ser governado/gerido”; outras práticas podem detalhar “como executar”.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PRINCÍPIOS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Princípios de um sistema de governança segundo o COBIT 2019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3401568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53312"/>
            <a:ext cx="64008" cy="181051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179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 para stakeholders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04672" y="1911096"/>
            <a:ext cx="3081528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sistema deve traduzir necessidades das partes interessadas em benefícios, risco aceitável e uso adequado de recursos.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89120" y="1353312"/>
            <a:ext cx="3401568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353312"/>
            <a:ext cx="64008" cy="181051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179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Abordagem holística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72000" y="1911096"/>
            <a:ext cx="3081528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depende da combinação coerente de processos, estruturas, informação, cultura, pessoas e tecnologia.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156448" y="1353312"/>
            <a:ext cx="3401568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353312"/>
            <a:ext cx="64008" cy="181051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51790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dinâmico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39328" y="1911096"/>
            <a:ext cx="3081528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Mudanças em estratégia, tecnologia, ameaças e regulação exigem adaptação contínua do sistema.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21792" y="3474720"/>
            <a:ext cx="3401568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474720"/>
            <a:ext cx="64008" cy="181051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393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≠ gestão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804672" y="4032504"/>
            <a:ext cx="3081528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Avaliar, direcionar e monitorar é diferente de planejar, construir, operar e acompanhar atividades.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401568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474720"/>
            <a:ext cx="64008" cy="181051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6393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Adequação ao contexto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4572000" y="4032504"/>
            <a:ext cx="3081528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sistema deve ser desenhado conforme estratégia, porte, riscos, sourcing, compliance e papel da TI.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156448" y="3474720"/>
            <a:ext cx="3401568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6448" y="3474720"/>
            <a:ext cx="64008" cy="181051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9328" y="36393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Cobertura ponta a ponta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339328" y="4032504"/>
            <a:ext cx="3081528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governança de I&amp;T envolve toda a organização e não apenas o departamento de TI.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ARQUITETURA DO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Três princípios do próprio framework COBIT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72768"/>
            <a:ext cx="64008" cy="36118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Modelo conceitual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30552"/>
            <a:ext cx="3081528" cy="2916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framework é organizado por conceitos e relações claras, permitindo consistência entre objetivos, componentes, metas e práticas.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estrutura deve ser compreensível e aplicável em diferentes contextos.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4389120" y="1572768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572768"/>
            <a:ext cx="64008" cy="36118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Aberto e flexível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130552"/>
            <a:ext cx="3081528" cy="2916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arquitetura permite incorporar novos conteúdos, focos e referências sem perder coerência.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Isso é importante em cenários que mudam rapidamente, como nuvem, cibersegurança e IA.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8119872" y="1572768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572768"/>
            <a:ext cx="64008" cy="36118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3736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Alinhado a outras referências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2130552"/>
            <a:ext cx="3081528" cy="2916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funciona como estrutura integradora: pode coexistir com ITIL, ISO/IEC 27001, métodos ágeis, arquitetura, gestão de projetos e outras práticas.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não pretende ser o único corpo de conhecimento usado pela organização; sua força está na integração e na governança do conjunto.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SEPARAÇÃO DE RESPONSABILIDADES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e gestão no COBIT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358384" cy="4224528"/>
          </a:xfrm>
          <a:prstGeom prst="roundRect">
            <a:avLst>
              <a:gd name="adj" fmla="val 173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422452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— EDM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5038344" cy="3529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Evaluate, Direct and Monitor.</a:t>
            </a:r>
            <a:endParaRPr lang="en-US" sz="1430" dirty="0"/>
          </a:p>
          <a:p>
            <a:pPr indent="0" marL="0">
              <a:buNone/>
            </a:pP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governança avalia necessidades e opções, define direção e monitora desempenho e conformidade. A responsabilidade é associada aos órgãos de governança e à alta direção.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0096" cy="4224528"/>
          </a:xfrm>
          <a:prstGeom prst="roundRect">
            <a:avLst>
              <a:gd name="adj" fmla="val 173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64008" cy="42245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8191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— APO, BAI, DSS, MEA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975104"/>
            <a:ext cx="5020056" cy="3529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gestão planeja, constrói/adquire, opera e monitora atividades em alinhamento com a direção estabelecida. A responsabilidade recai sobre executivos, gestores e equipes especializadas.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modelo central, governança e gestão são relacionadas, mas mantidas conceitualmente distintas.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ABORDAGEM HOLÍSTICA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Os sete componentes de um sistema de governança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93208" y="886968"/>
            <a:ext cx="1975104" cy="868680"/>
          </a:xfrm>
          <a:prstGeom prst="roundRect">
            <a:avLst/>
          </a:prstGeom>
          <a:solidFill>
            <a:srgbClr val="C76A13">
              <a:alpha val="14000"/>
            </a:srgbClr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02936" y="10149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5202936" y="128930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práticas e atividades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8346034" y="1661600"/>
            <a:ext cx="1975104" cy="868680"/>
          </a:xfrm>
          <a:prstGeom prst="roundRect">
            <a:avLst/>
          </a:prstGeom>
          <a:solidFill>
            <a:srgbClr val="C76A13">
              <a:alpha val="14000"/>
            </a:srgbClr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5762" y="178961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Estruturas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455762" y="206393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papéis e instâncias decisórias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9149415" y="3402183"/>
            <a:ext cx="1975104" cy="868680"/>
          </a:xfrm>
          <a:prstGeom prst="roundRect">
            <a:avLst/>
          </a:prstGeom>
          <a:solidFill>
            <a:srgbClr val="C76A13">
              <a:alpha val="14000"/>
            </a:srgbClr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59143" y="3530199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Informação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259143" y="3804519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entradas, saídas e fluxos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898390" y="4798021"/>
            <a:ext cx="1975104" cy="868680"/>
          </a:xfrm>
          <a:prstGeom prst="roundRect">
            <a:avLst/>
          </a:prstGeom>
          <a:solidFill>
            <a:srgbClr val="C76A13">
              <a:alpha val="14000"/>
            </a:srgbClr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8118" y="4926037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Pessoas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008118" y="5200357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competências e capacidades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288026" y="4798021"/>
            <a:ext cx="1975104" cy="868680"/>
          </a:xfrm>
          <a:prstGeom prst="roundRect">
            <a:avLst/>
          </a:prstGeom>
          <a:solidFill>
            <a:srgbClr val="C76A13">
              <a:alpha val="14000"/>
            </a:srgbClr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7754" y="4926037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Cultura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3397754" y="5200357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ética, valores e comportamentos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37001" y="3402183"/>
            <a:ext cx="1975104" cy="868680"/>
          </a:xfrm>
          <a:prstGeom prst="roundRect">
            <a:avLst/>
          </a:prstGeom>
          <a:solidFill>
            <a:srgbClr val="C76A13">
              <a:alpha val="14000"/>
            </a:srgbClr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6729" y="3530199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Políticas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146729" y="3804519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regras e procedimentos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840382" y="1661600"/>
            <a:ext cx="1975104" cy="868680"/>
          </a:xfrm>
          <a:prstGeom prst="roundRect">
            <a:avLst/>
          </a:prstGeom>
          <a:solidFill>
            <a:srgbClr val="C76A13">
              <a:alpha val="14000"/>
            </a:srgbClr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0110" y="178961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Serviços e tecnologia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950110" y="206393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infraestrutura, aplicações e serviços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2743200" cy="21031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8072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Sistema 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Processos são apenas um dos componentes. Governança efetiva depende da combinação e coerência entre todos eles.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MODELO CENTRAL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Core Model: 40 objetivos em cinco domínios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371600"/>
            <a:ext cx="1143000" cy="630936"/>
          </a:xfrm>
          <a:prstGeom prst="round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361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84832" y="1417320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Evaluate, Direct and Monitor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5358384" y="14173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10552176" y="1417320"/>
            <a:ext cx="512064" cy="512064"/>
          </a:xfrm>
          <a:prstGeom prst="ellipse">
            <a:avLst/>
          </a:prstGeom>
          <a:solidFill>
            <a:srgbClr val="C76A13">
              <a:alpha val="90000"/>
            </a:srgbClr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52176" y="15361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713232" y="2276856"/>
            <a:ext cx="1143000" cy="63093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414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84832" y="2322576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Align, Plan and Organize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358384" y="2322576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Planejamento e organização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10552176" y="2322576"/>
            <a:ext cx="512064" cy="512064"/>
          </a:xfrm>
          <a:prstGeom prst="ellipse">
            <a:avLst/>
          </a:prstGeom>
          <a:solidFill>
            <a:srgbClr val="C76A13">
              <a:alpha val="90000"/>
            </a:srgbClr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52176" y="244144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14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13232" y="3182112"/>
            <a:ext cx="1143000" cy="63093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34670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84832" y="3227832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Build, Acquire and Implement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5358384" y="322783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Mudança e implementação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10552176" y="3227832"/>
            <a:ext cx="512064" cy="512064"/>
          </a:xfrm>
          <a:prstGeom prst="ellipse">
            <a:avLst/>
          </a:prstGeom>
          <a:solidFill>
            <a:srgbClr val="C76A13">
              <a:alpha val="90000"/>
            </a:srgbClr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52176" y="334670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11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13232" y="4087368"/>
            <a:ext cx="1143000" cy="63093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2519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084832" y="4133088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Deliver, Service and Support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5358384" y="413308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Operação e suporte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10552176" y="4133088"/>
            <a:ext cx="512064" cy="512064"/>
          </a:xfrm>
          <a:prstGeom prst="ellipse">
            <a:avLst/>
          </a:prstGeom>
          <a:solidFill>
            <a:srgbClr val="C76A13">
              <a:alpha val="90000"/>
            </a:srgbClr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52176" y="425196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713232" y="4992624"/>
            <a:ext cx="1143000" cy="63093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15721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084832" y="5038344"/>
            <a:ext cx="3273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Monitor, Evaluate and Assess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5358384" y="503834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Monitoramento e avaliação</a:t>
            </a:r>
            <a:endParaRPr lang="en-US" sz="1270" dirty="0"/>
          </a:p>
        </p:txBody>
      </p:sp>
      <p:sp>
        <p:nvSpPr>
          <p:cNvPr id="33" name="Shape 31"/>
          <p:cNvSpPr/>
          <p:nvPr/>
        </p:nvSpPr>
        <p:spPr>
          <a:xfrm>
            <a:off x="10552176" y="5038344"/>
            <a:ext cx="512064" cy="512064"/>
          </a:xfrm>
          <a:prstGeom prst="ellipse">
            <a:avLst/>
          </a:prstGeom>
          <a:solidFill>
            <a:srgbClr val="C76A13">
              <a:alpha val="90000"/>
            </a:srgbClr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52176" y="515721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numeração indica a quantidade de objetivos no modelo COBIT 2019: 5 + 14 + 11 + 6 + 4 = 40.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DOMÍNIOS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EDM e APO: direção da governança e organização da gestão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358384" cy="4315968"/>
          </a:xfrm>
          <a:prstGeom prst="roundRect">
            <a:avLst>
              <a:gd name="adj" fmla="val 1695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431596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EDM — Evaluate, Direct and Monitor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5038344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Concentra os objetivos de governança. A alta direção avalia alternativas e necessidades das partes interessadas, direciona prioridades e monitora valor, riscos, recursos e transparência.</a:t>
            </a:r>
            <a:endParaRPr lang="en-US" sz="1360" dirty="0"/>
          </a:p>
          <a:p>
            <a:pPr indent="0" marL="0">
              <a:buNone/>
            </a:pP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Exemplos de temas: estrutura de governança, entrega de benefícios, otimização de riscos, otimização de recursos e engajamento de stakeholders.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0096" cy="4315968"/>
          </a:xfrm>
          <a:prstGeom prst="roundRect">
            <a:avLst>
              <a:gd name="adj" fmla="val 1695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64008" cy="43159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8191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APO — Align, Plan and Organize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975104"/>
            <a:ext cx="5020056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Transforma a direção em organização e planejamento. Abrange estratégia de I&amp;T, arquitetura, inovação, portfólio, orçamento, pessoas, relacionamentos, fornecedores, riscos, segurança, dados e acordos de serviço.</a:t>
            </a:r>
            <a:endParaRPr lang="en-US" sz="1360" dirty="0"/>
          </a:p>
          <a:p>
            <a:pPr indent="0" marL="0">
              <a:buNone/>
            </a:pP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 o domínio em que a gestão prepara as condições para execução coerente.</a:t>
            </a:r>
            <a:endParaRPr lang="en-US" sz="1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DOMÍNIOS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BAI, DSS e MEA: transformar, operar e verificar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4315968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BAI — Build, Acquire and Implement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3081528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Trata de programas, projetos, requisitos, desenvolvimento ou aquisição, disponibilidade, mudanças, aceitação, configuração, ativos e conhecimento.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didática: como transformar planos em capacidades tecnológicas?</a:t>
            </a:r>
            <a:endParaRPr lang="en-US" sz="129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43159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DSS — Deliver, Service and Support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975104"/>
            <a:ext cx="3081528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Abrange operação, requisições e incidentes, problemas, continuidade, segurança operacional e controles de processos de negócio.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didática: como manter serviços confiáveis no dia a dia?</a:t>
            </a:r>
            <a:endParaRPr lang="en-US" sz="1290" dirty="0"/>
          </a:p>
        </p:txBody>
      </p:sp>
      <p:sp>
        <p:nvSpPr>
          <p:cNvPr id="13" name="Shape 11"/>
          <p:cNvSpPr/>
          <p:nvPr/>
        </p:nvSpPr>
        <p:spPr>
          <a:xfrm>
            <a:off x="8119872" y="1417320"/>
            <a:ext cx="3401568" cy="4315968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417320"/>
            <a:ext cx="64008" cy="431596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 — Monitor, Evaluate and Assess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1975104"/>
            <a:ext cx="3081528" cy="3621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Verifica desempenho e conformidade: métricas, controles internos, requisitos externos e mecanismos de garantia.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didática: estamos obtendo o desempenho e o nível de controle esperados?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ALINHAMENTO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Goals Cascade: conectar necessidades de stakeholders a práticas de I&amp;T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28800"/>
            <a:ext cx="2062886" cy="1325880"/>
          </a:xfrm>
          <a:prstGeom prst="roundRect">
            <a:avLst/>
          </a:prstGeom>
          <a:solidFill>
            <a:srgbClr val="C76A13"/>
          </a:solidFill>
          <a:ln w="15240">
            <a:solidFill>
              <a:srgbClr val="C76A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Necessidades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184343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valor, risco, recursos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02966" y="2400300"/>
            <a:ext cx="201168" cy="182880"/>
          </a:xfrm>
          <a:prstGeom prst="chevron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7558" y="1828800"/>
            <a:ext cx="2062886" cy="13258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8998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Objetivos empresariais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7286" y="2359152"/>
            <a:ext cx="184343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resultados estratégicos do negócio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2157" y="2400300"/>
            <a:ext cx="201168" cy="182880"/>
          </a:xfrm>
          <a:prstGeom prst="chevron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6749" y="1828800"/>
            <a:ext cx="2062886" cy="13258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8189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Objetivos de alinhamento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86477" y="2359152"/>
            <a:ext cx="184343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I&amp;T precisa alcançar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21347" y="2400300"/>
            <a:ext cx="201168" cy="182880"/>
          </a:xfrm>
          <a:prstGeom prst="chevron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5939" y="1828800"/>
            <a:ext cx="2062886" cy="13258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7379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Objetivos COBIT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95667" y="2359152"/>
            <a:ext cx="184343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prioridades de governança e gestão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30538" y="2400300"/>
            <a:ext cx="201168" cy="182880"/>
          </a:xfrm>
          <a:prstGeom prst="chevron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5130" y="1828800"/>
            <a:ext cx="2062886" cy="13258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6570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Métricas e práticas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4858" y="2359152"/>
            <a:ext cx="184343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executar e acompanhar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1560" y="3840480"/>
            <a:ext cx="10058400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3840480"/>
            <a:ext cx="64008" cy="141732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005072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 que a cascata importa?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398264"/>
            <a:ext cx="9738360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Ela evita escolher controles ou processos isoladamente. O ponto de partida deve ser o resultado organizacional: a organização identifica necessidades, traduz em objetivos empresariais, deriva objetivos de alinhamento e então prioriza objetivos do COBIT. Isso cria rastreabilidade entre “o que importa ao negócio” e “o que deve ser governado e gerido em I&amp;T”.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DESENHO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factors: o sistema de governança precisa ser personalizado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179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Estratégia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crescimento, inovação, estabilidade, custo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2834640" y="1353312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353312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5179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Objetivos empresariais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3017520" y="1911096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prioridades e resultados esperados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166360" y="1353312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353312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5179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Perfil de risco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349240" y="1911096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ameaças e exposições relevantes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7498080" y="1353312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1353312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5179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Problemas atuais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680960" y="1911096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falhas e dores de I&amp;T existentes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9829800" y="1353312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9800" y="1353312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15179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Ameaças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0012680" y="1911096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normal ou elevado cenário de ameaça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502920" y="3575304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575304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73989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Compliance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685800" y="4133088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baixo, normal ou elevado requisito regulatório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2834640" y="3575304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3575304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373989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Papel da TI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3017520" y="4133088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suporte, fábrica, transformação, estratégico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5166360" y="3575304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3575304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73989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Sourcing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5349240" y="4133088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interno, terceirizado, nuvem, híbrido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7498080" y="3575304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3575304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373989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Métodos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7680960" y="4133088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tradicional, ágil, DevOps etc.</a:t>
            </a:r>
            <a:endParaRPr lang="en-US" sz="1070" dirty="0"/>
          </a:p>
        </p:txBody>
      </p:sp>
      <p:sp>
        <p:nvSpPr>
          <p:cNvPr id="41" name="Shape 39"/>
          <p:cNvSpPr/>
          <p:nvPr/>
        </p:nvSpPr>
        <p:spPr>
          <a:xfrm>
            <a:off x="9829800" y="3575304"/>
            <a:ext cx="2084832" cy="1783080"/>
          </a:xfrm>
          <a:prstGeom prst="roundRect">
            <a:avLst>
              <a:gd name="adj" fmla="val 410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29800" y="3575304"/>
            <a:ext cx="64008" cy="178308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12680" y="373989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Adoção tecnológica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10012680" y="4133088"/>
            <a:ext cx="1764792" cy="10881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seguidor, primeiro adotante, inovador</a:t>
            </a:r>
            <a:endParaRPr lang="en-US" sz="1070" dirty="0"/>
          </a:p>
        </p:txBody>
      </p:sp>
      <p:sp>
        <p:nvSpPr>
          <p:cNvPr id="45" name="Shape 43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mesma lista de 40 objetivos pode produzir prioridades diferentes em organizações diferentes — esse é um princípio central do COBIT 2019.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APLICAÇÃO EM GRUPO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Atividade 7 — mapeamento preliminar de processos de TI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07592"/>
            <a:ext cx="3657600" cy="4553712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07592"/>
            <a:ext cx="64008" cy="455371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7218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865376"/>
            <a:ext cx="3337560" cy="3858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 AI Solutions Brasil: clientes reclamam de indisponibilidade; mudanças entram em produção sem fluxo formal; equipes contratam nuvem de forma independente; não existe inventário completo de ativos; incidentes são tratados por mensagens; a direção não recebe indicadores consolidados.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Tarefa: associe cada problema a um domínio COBIT e justifique a escolha.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4590288" y="1307592"/>
            <a:ext cx="6894576" cy="658368"/>
          </a:xfrm>
          <a:prstGeom prst="roundRect">
            <a:avLst/>
          </a:prstGeom>
          <a:solidFill>
            <a:srgbClr val="FBF7F1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4721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Investimentos / prioridades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9372600" y="14721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EDM ou APO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90288" y="2148840"/>
            <a:ext cx="6894576" cy="65836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3134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Contratação de nuvem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9372600" y="23134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90288" y="2990088"/>
            <a:ext cx="6894576" cy="658368"/>
          </a:xfrm>
          <a:prstGeom prst="roundRect">
            <a:avLst/>
          </a:prstGeom>
          <a:solidFill>
            <a:srgbClr val="FBF7F1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3154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Mudanças em produção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9372600" y="31546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90288" y="3831336"/>
            <a:ext cx="6894576" cy="65836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9959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Incidentes e operação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9372600" y="39959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90288" y="4672584"/>
            <a:ext cx="6894576" cy="658368"/>
          </a:xfrm>
          <a:prstGeom prst="roundRect">
            <a:avLst/>
          </a:prstGeom>
          <a:solidFill>
            <a:srgbClr val="FBF7F1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483717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Indicadores e controles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9372600" y="48371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C76A13">
              <a:alpha val="10000"/>
            </a:srgbClr>
          </a:solidFill>
          <a:ln w="12700">
            <a:solidFill>
              <a:srgbClr val="C76A13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Nesta atividade, o objetivo é compreender a lógica dos domínios — não memorizar os 40 objetivos.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76A1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Síntese e referências para estudo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17320"/>
            <a:ext cx="64008" cy="416052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819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Ideias que devem permanecer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975104"/>
            <a:ext cx="5074920" cy="3465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COBIT 2019 organiza a governança e a gestão de I&amp;T em um sistema integrado. O modelo central possui 40 objetivos distribuídos em EDM, APO, BAI, DSS e MEA. Processos são apenas um dos sete componentes; o sistema também depende de estruturas, informação, pessoas, cultura, políticas e tecnologia.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COBIT deve ser adaptado ao contexto por meio de metas e fatores de desenho.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417320"/>
            <a:ext cx="64008" cy="196596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58191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Referências-base da disciplina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1975104"/>
            <a:ext cx="5001768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BRAND, K.; BOONEN, H. IT Governance based on COBIT — referência histórica para governança e controle.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FERNANDES, A. A.; ABREU, V. F. Implantando a Governança de TI.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236208" y="361188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3611880"/>
            <a:ext cx="64008" cy="196596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77647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Atualização e referências complementares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4169664"/>
            <a:ext cx="5001768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ISACA. COBIT 2019 Framework: Introduction and Methodology.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ISACA. COBIT 2019 Framework: Governance and Management Objectives.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ISACA. COBIT 2019 Design Guide.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IFSP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8 — COBIT como framework de governança e controle</dc:title>
  <dc:subject>COBIT 2019; governança e gestão; objetivos, domínios, componentes e fatores de desenho</dc:subject>
  <dc:creator>OpenAI — material didático preparado para uso acadêmico</dc:creator>
  <cp:lastModifiedBy>OpenAI — material didático preparado para uso acadêmico</cp:lastModifiedBy>
  <cp:revision>1</cp:revision>
  <dcterms:created xsi:type="dcterms:W3CDTF">2026-10-07T11:34:12Z</dcterms:created>
  <dcterms:modified xsi:type="dcterms:W3CDTF">2026-10-07T11:34:12Z</dcterms:modified>
</cp:coreProperties>
</file>