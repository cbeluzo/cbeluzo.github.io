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B4CDE6"/>
                </a:solidFill>
              </a:rPr>
              <a:t>AULA 10 · BLOCO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Jornada do cliente
e desenvolvimento de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Antes de construir a solução inteira, precisamos descobrir onde a experiência realmente gera ou destrói valor - e qual hipótese merece ser testada primeiro.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Do Canvas para a experiência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 Canvas diz que temos uma proposta de valor. Mas em que momento o cliente percebe esse valor - e o que precisa acontecer antes e depois?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Antes do uso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Durante a experiência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Depois da entrega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Jornada do cliente: enxergar a experiência como sequência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2286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29384"/>
            <a:ext cx="310896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Como surge a necessidade? Como descobre alternativas? Que dúvidas e barreiras aparecem?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73152" cy="22860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DURANTE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29384"/>
            <a:ext cx="310896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Como avalia, adquire, começa a usar e realiza a tarefa principal?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417320"/>
            <a:ext cx="73152" cy="22860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50876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929384"/>
            <a:ext cx="310896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 resultado percebe? Precisa de suporte? Retorna? Recomenda? Abandona?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A experiência começa antes do primeiro clique e continua depois da função principal.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Produto não é jornada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Uma equipe desenhou seis telas excelentes para seu aplicativo. Isso significa que compreendeu a jornada do cliente?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Motivação e contexto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Ações fora do sistema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Dores e expectativas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Uma jornada pode ser descrita por cinco perguntas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2121408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73152" cy="3429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ETAPA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9384"/>
            <a:ext cx="1755648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Onde o cliente está na experiência?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417320"/>
            <a:ext cx="2121408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5768" y="1417320"/>
            <a:ext cx="73152" cy="34290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1929384"/>
            <a:ext cx="1755648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 que ele tenta fazer?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6" y="1417320"/>
            <a:ext cx="2121408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0056" y="1417320"/>
            <a:ext cx="73152" cy="342900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PENSAMENTO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929384"/>
            <a:ext cx="1755648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 que espera, teme ou precisa decidir?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417320"/>
            <a:ext cx="2121408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4344" y="1417320"/>
            <a:ext cx="73152" cy="34290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EMOÇÃO / FRICÇÃO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929384"/>
            <a:ext cx="1755648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Onde surgem esforço, dúvida, espera ou frustração?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8632" y="1417320"/>
            <a:ext cx="2121408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8632" y="1417320"/>
            <a:ext cx="73152" cy="34290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50876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OPORTUNIDADE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29384"/>
            <a:ext cx="1755648" cy="2825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 que poderia melhorar a experiência?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A jornada não precisa ser bonita. Precisa tornar visíveis momentos críticos.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Exemplo: estudante procurando uma oportunidade acadêmica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63040"/>
            <a:ext cx="212140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73152" cy="32461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DESCOBRE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75104"/>
            <a:ext cx="1755648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Ouve falar de uma bolsa em um grupo.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463040"/>
            <a:ext cx="212140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15768" y="1463040"/>
            <a:ext cx="73152" cy="32461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55448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PROCURA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1975104"/>
            <a:ext cx="1755648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Busca edital e informações em diferentes canais.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0056" y="1463040"/>
            <a:ext cx="212140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0056" y="1463040"/>
            <a:ext cx="73152" cy="32461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55448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AVALIA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1975104"/>
            <a:ext cx="1755648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Tenta entender prazo, requisitos e documentos.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463040"/>
            <a:ext cx="212140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4344" y="1463040"/>
            <a:ext cx="73152" cy="32461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55448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975104"/>
            <a:ext cx="1755648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Prepara inscrição e envia material.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8632" y="1463040"/>
            <a:ext cx="212140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28632" y="1463040"/>
            <a:ext cx="73152" cy="324612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554480"/>
            <a:ext cx="180136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640"/>
                </a:solidFill>
              </a:rPr>
              <a:t>ACOMPANHA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75104"/>
            <a:ext cx="1755648" cy="2642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Espera resultado e procura atualizações.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Pergunta: em qual etapa existe maior perda de valor? O MVP precisa necessariamente cobrir todas as cinco?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Momento crítico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o maior problema ocorre antes de o usuário entrar no sistema, faz sentido começar construindo funcionalidades sofisticadas para depois do login?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Localize a fricção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Associe à hipótese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Evite construir fora do problema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MVP: mínimo não significa incompleto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22860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29384"/>
            <a:ext cx="484632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 menor configuração capaz de testar uma hipótese relevante sem esforço desnecessário.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22860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08760"/>
            <a:ext cx="4892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29384"/>
            <a:ext cx="4846320" cy="1682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Precisa permitir uma experiência ou evidência suficientemente real para que possamos aprender.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O objetivo do MVP não é impressionar. É reduzir incerteza com o menor investimento razoável.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MVP é versão 1.0?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a equipe pretende desenvolver autenticação, painel administrativo, relatórios, chatbot, notificações e aplicativo móvel, isso ainda é um MVP?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Qual hipótese está sendo testada?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que é indispensável para o teste?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O que pode esperar?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MVP nasce da hipótese, não da lista de funcionalidades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73152" cy="251460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HIPÓTESE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“Estudantes perdem oportunidades porque não conseguem localizar e filtrar informações relevantes.”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73152" cy="25146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EXPERIMENTO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Oferecer manualmente uma seleção semanal personalizada para um pequeno grupo.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25146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EVIDÊNCIA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Os participantes consultam, utilizam e relatam redução no esforço? Pedem continuidade?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Talvez seja possível testar o valor antes de programar o sistema que futuramente automatizará o serviço.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Tipos de MVP: escolha pelo que precisa aprender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73152" cy="18288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92224"/>
            <a:ext cx="3246120" cy="12252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Testa interesse, mensagem, cadastro ou intenção de ação antes do produto existir.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73152" cy="18288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CONCIERGE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92224"/>
            <a:ext cx="3246120" cy="12252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equipe executa manualmente o serviço e observa se o cliente percebe valor.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80160"/>
            <a:ext cx="73152" cy="182880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37160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MÁGICO DE OZ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792224"/>
            <a:ext cx="3246120" cy="12252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 interface parece automatizada, mas parte do processo ocorre manualmente nos bastidores.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52044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3520440"/>
            <a:ext cx="73152" cy="18288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0048" y="3611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PROTÓTIPO NAVEGÁVEL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4032504"/>
            <a:ext cx="3246120" cy="12252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Testa fluxo, compreensão e interação sem implementar toda a lógica.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2044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520440"/>
            <a:ext cx="73152" cy="18288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11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FUNCIONAL ENXUTO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32504"/>
            <a:ext cx="3246120" cy="12252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Implementa apenas o núcleo necessário para uso real e aprendizagem.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Qual MVP escolher?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Para testar se pessoas clicariam em “contratar”, precisamos construir toda a infraestrutura que entregará o serviço?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Teste interesse com landing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Teste experiência com protótipo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Teste valor real com concierge/funcional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Mesmo problema, MVPs diferentes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35661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HIPÓTESE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37943"/>
            <a:ext cx="3108960" cy="2962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“As pessoas não entendem a proposta.”
MVP possível: landing page com mensagens diferentes.
Métrica: conversão para interesse/cadastro.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35661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HIPÓTESE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37943"/>
            <a:ext cx="3108960" cy="2962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“A experiência proposta é difícil.”
MVP possível: protótipo navegável.
Métrica: tarefas concluídas, erros, dúvidas.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5661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HIPÓTESE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108960" cy="2962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“O benefício não é valioso o suficiente.”
MVP possível: concierge ou funcional enxuto.
Métrica: uso, retorno, esforço evitado, disposição de continuar.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O que medir?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100 pessoas acessaram o MVP, isso prova que a proposta de valor funciona?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Acesso não é resultado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Métrica depende da hipótese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Comportamento vale mais que elogio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Métricas úteis respondem à pergunta do experimento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73152" cy="25146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INTERESSE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Cliques, cadastros, solicitações, respostas, intenção acompanhada de 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73152" cy="25146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USABILIDADE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Tarefa concluída, tempo, erros, abandono, necessidade de ajuda.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6118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25146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6304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VALOR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246120" cy="1911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Retorno, recorrência, recomendação, esforço evitado, pagamento ou outra evidência comportamental.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Antes de testar, defina: que resultado aumentaria ou reduziria nossa confiança na hipótese?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IA pode acelerar prototipação - mas não escolhe a hipótese por você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4747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73152" cy="35204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PODE AJUDAR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37943"/>
            <a:ext cx="3108960" cy="2916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Gerar rascunhos de telas, textos, fluxos, código inicial, dados simulados e variações para experimentos.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4747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3520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NÃO SUBSTITUI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37943"/>
            <a:ext cx="3108960" cy="2916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Compreensão do problema, escolha do público, definição da hipótese e contato com usuários reais.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747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25880"/>
            <a:ext cx="73152" cy="35204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1732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RISCO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37943"/>
            <a:ext cx="3108960" cy="2916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Quanto mais fácil construir, maior a tentação de construir funcionalidades que nunca precisavam existir.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Velocidade de desenvolvimento não corrige uma hipótese ruim.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Situação: IA gerou o app em uma tarde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A equipe produziu uma aplicação completa com IA generativa. Isso significa que validou melhor o negócio do que outra equipe que testou manualmente com cinco clientes?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Produto ≠ evidência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Aprendizado é o objetivo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Complexidade pode esconder a hipótese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Conectando jornada, hipótese e MVP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5603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73152" cy="30175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63040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 · JORNADA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883664"/>
            <a:ext cx="2194560" cy="24140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Em que etapa está a maior fricção?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5603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73152" cy="30175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463040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2 · HIPÓTESE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83664"/>
            <a:ext cx="2194560" cy="24140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que acreditamos que causa ou resolve essa fricção?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71600"/>
            <a:ext cx="25603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371600"/>
            <a:ext cx="73152" cy="30175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63040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3 ·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883664"/>
            <a:ext cx="2194560" cy="24140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Qual é a menor experiência capaz de testar isso?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371600"/>
            <a:ext cx="25603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1371600"/>
            <a:ext cx="73152" cy="30175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463040"/>
            <a:ext cx="2240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4 · EVIDÊNCIA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883664"/>
            <a:ext cx="2194560" cy="24140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Que comportamento indicará avanço, revisão ou abandono?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2640"/>
                </a:solidFill>
              </a:rPr>
              <a:t>Essa cadeia evita que o MVP vire apenas um exercício de programação.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Três erros frequentes no MVP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3152" cy="33375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MVP GRANDE DEMAIS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83664"/>
            <a:ext cx="310896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 equipe tenta entregar o produto final em miniatura e demora para obter qualquer evidência.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73152" cy="33375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MVP PEQUENO DEMAIS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83664"/>
            <a:ext cx="310896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O teste é tão artificial que o comportamento observado não informa nada sobre a hipótese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371600"/>
            <a:ext cx="73152" cy="333756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463040"/>
            <a:ext cx="31546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AE3E3E"/>
                </a:solidFill>
              </a:rPr>
              <a:t>MVP SEM CRITÉRIO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83664"/>
            <a:ext cx="3108960" cy="2734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A equipe testa, recebe elogios e declara sucesso sem definir antes o que significaria validar ou refutar.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2640"/>
                </a:solidFill>
              </a:rPr>
              <a:t>Mínimo é uma decisão experimental, não uma competição por menos funcionalidades.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Atividade: jornada + plano inicial de MVP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73152" cy="43891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1 · DESENHE A JORNADA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746504"/>
            <a:ext cx="3246120" cy="3785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Escolha o segmento prioritário.
Represente etapas antes, durante e depois.
Registre ações, dúvidas, dores e momentos críticos.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3444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73152" cy="4389120"/>
          </a:xfrm>
          <a:prstGeom prst="rect">
            <a:avLst/>
          </a:prstGeom>
          <a:solidFill>
            <a:srgbClr val="69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46A0"/>
                </a:solidFill>
              </a:rPr>
              <a:t>2 · ESCOLHA A HIPÓTESE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46504"/>
            <a:ext cx="3246120" cy="3785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Qual incerteza do Canvas ou da jornada mais ameaça o projeto?
Escreva uma hipótese testável e específica.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1234440"/>
            <a:ext cx="73152" cy="43891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1325880"/>
            <a:ext cx="3291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3 · DEFINA O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746504"/>
            <a:ext cx="3246120" cy="37856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</a:rPr>
              <a:t>Escolha o tipo de MVP.
O que será mostrado ou entregue?
A quem?
Por quanto tempo?
Que evidência será coletada?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640"/>
                </a:solidFill>
              </a:rPr>
              <a:t>Produto da aula: jornada do cliente + plano inicial do MVP.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62640"/>
                </a:solidFill>
              </a:rPr>
              <a:t>Teste final do plano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53312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Se o MVP der “certo”, exatamente o que teremos aprendido? E se der “errado”, saberemos o que revisar?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167AC"/>
                </a:solidFill>
              </a:rPr>
              <a:t>Para pensar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Resultado esperado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73152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37E22"/>
                </a:solidFill>
              </a:rPr>
              <a:t>Para pensar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Critério de decisão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73152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749039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F7D5E"/>
                </a:solidFill>
              </a:rPr>
              <a:t>Para pensar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169664"/>
            <a:ext cx="301752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Próximo passo possível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CDE6"/>
                </a:solidFill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O MVP não é o menor produto que conseguimos construir.
É o menor experimento que consegue nos ensinar algo importante.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4CDE6"/>
                </a:solidFill>
              </a:rPr>
              <a:t>Próxima aula: precificação, custos e sustentabilidade financeira.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6638544"/>
            <a:ext cx="11887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</a:rPr>
              <a:t>Aula 10 ·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