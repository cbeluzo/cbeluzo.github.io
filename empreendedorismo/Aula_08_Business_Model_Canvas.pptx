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60120"/>
            <a:ext cx="10789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B4CDE6"/>
                </a:solidFill>
              </a:rPr>
              <a:t>AULA 8 · BLOCO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8992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Business Model 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54680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</a:rPr>
              <a:t>Como transformar uma oportunidade validada em uma hipótese integrada de como criar, entregar e capturar valor.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617720"/>
            <a:ext cx="100584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B4CDE6"/>
                </a:solidFill>
              </a:rPr>
              <a:t>Produto da aula: primeira versão do BMC de cada projeto.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6638544"/>
            <a:ext cx="1005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8 ·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Da oportunidade ao modelo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53312"/>
            <a:ext cx="10698480" cy="1828800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72768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</a:rPr>
              <a:t>Sabemos que existe um problema e um público. Isso já nos diz como o empreendimento vai funcionar?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73152" cy="14173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Para pensar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Quem recebe valor?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3657600"/>
            <a:ext cx="73152" cy="14173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Para pensar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Como esse valor chega até ele?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3657600"/>
            <a:ext cx="73152" cy="14173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Para pensar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O que sustenta a operação?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0" y="6638544"/>
            <a:ext cx="1005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8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Modelo de negócio não é o mesmo que produto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52120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73152" cy="21031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508760"/>
            <a:ext cx="4892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PRODUTO / SOLUÇÃO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929384"/>
            <a:ext cx="4846320" cy="14996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Aquilo que é oferecido: software, serviço, processo, dispositivo, plataforma, experiência ou combinação desses elementos.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2120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417320"/>
            <a:ext cx="73152" cy="21031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508760"/>
            <a:ext cx="4892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MODELO DE NEGÓCIO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929384"/>
            <a:ext cx="4846320" cy="14996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A lógica integrada que explica para quem se cria valor, como ele é entregue, o que precisa existir para isso e como a iniciativa se sustenta.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5196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62640"/>
                </a:solidFill>
              </a:rPr>
              <a:t>Dois negócios podem vender produtos semelhantes e possuir modelos de negócio completamente diferentes.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0" y="6638544"/>
            <a:ext cx="1005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8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Business Model Canvas: um mapa da lógica do negócio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17320"/>
            <a:ext cx="34747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73152" cy="214884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508760"/>
            <a:ext cx="31546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CRIAR VALOR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1929384"/>
            <a:ext cx="3108960" cy="1545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Para quem? Que problema ou necessidade? Que benefício relevante?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17320"/>
            <a:ext cx="34747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417320"/>
            <a:ext cx="73152" cy="214884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508760"/>
            <a:ext cx="31546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ENTREGAR VALOR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1929384"/>
            <a:ext cx="3108960" cy="1545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Por quais canais? Com qual relacionamento? Que atividades, recursos e parceiros tornam isso possível?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417320"/>
            <a:ext cx="34747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01000" y="1417320"/>
            <a:ext cx="73152" cy="214884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2168" y="1508760"/>
            <a:ext cx="31546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CAPTURAR / SUSTENTAR VALOR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8" y="1929384"/>
            <a:ext cx="3108960" cy="1545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Como entram recursos? Quais custos precisam ser suportados para manter o modelo funcionando?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34340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62640"/>
                </a:solidFill>
              </a:rPr>
              <a:t>O Canvas não elimina a incerteza. Ele torna as hipóteses visíveis para que possam ser discutidas e testadas.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07040" y="6638544"/>
            <a:ext cx="1005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8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Por que uma página pode ser útil?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53312"/>
            <a:ext cx="10698480" cy="1828800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72768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</a:rPr>
              <a:t>Um plano detalhado de 40 páginas é necessariamente melhor para um negócio que ainda está cheio de hipóteses?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73152" cy="14173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Para pensar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Velocidade para revisar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3657600"/>
            <a:ext cx="73152" cy="14173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Para pensar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Visão das dependências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3657600"/>
            <a:ext cx="73152" cy="14173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Para pensar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Alinhamento da equipe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0" y="6638544"/>
            <a:ext cx="1005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8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Os 9 blocos funcionam como partes de um sistema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881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646E"/>
                </a:solidFill>
              </a:rPr>
              <a:t>Mudar um bloco costuma exigir revisar outros.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2011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73152" cy="132588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1691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PARCERIAS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9384"/>
            <a:ext cx="1645920" cy="722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E1E1E"/>
                </a:solidFill>
              </a:rPr>
              <a:t>Quem viabiliza?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40" y="1417320"/>
            <a:ext cx="2011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06040" y="1417320"/>
            <a:ext cx="73152" cy="132588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07208" y="1508760"/>
            <a:ext cx="1691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ATIVIDADES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07208" y="1929384"/>
            <a:ext cx="1645920" cy="722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E1E1E"/>
                </a:solidFill>
              </a:rPr>
              <a:t>O que fazemos?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06040" y="2880360"/>
            <a:ext cx="2011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06040" y="2880360"/>
            <a:ext cx="73152" cy="132588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07208" y="2971800"/>
            <a:ext cx="1691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RECURSOS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7208" y="3392424"/>
            <a:ext cx="1645920" cy="722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E1E1E"/>
                </a:solidFill>
              </a:rPr>
              <a:t>Do que precisamos?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1417320"/>
            <a:ext cx="2011680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54880" y="1417320"/>
            <a:ext cx="73152" cy="278892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56048" y="1508760"/>
            <a:ext cx="1691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62640"/>
                </a:solidFill>
              </a:rPr>
              <a:t>PROPOSTA DE VALOR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6048" y="1929384"/>
            <a:ext cx="1645920" cy="21854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E1E1E"/>
                </a:solidFill>
              </a:rPr>
              <a:t>Que valor entregamos?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1417320"/>
            <a:ext cx="2011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03720" y="1417320"/>
            <a:ext cx="73152" cy="132588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04888" y="1508760"/>
            <a:ext cx="1691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RELACIONAMENTO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4888" y="1929384"/>
            <a:ext cx="1645920" cy="722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E1E1E"/>
                </a:solidFill>
              </a:rPr>
              <a:t>Como mantemos vínculo?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3720" y="2880360"/>
            <a:ext cx="2011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03720" y="2880360"/>
            <a:ext cx="73152" cy="132588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04888" y="2971800"/>
            <a:ext cx="1691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CANAIS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04888" y="3392424"/>
            <a:ext cx="1645920" cy="722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E1E1E"/>
                </a:solidFill>
              </a:rPr>
              <a:t>Como chegamos?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2560" y="1417320"/>
            <a:ext cx="2651760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52560" y="1417320"/>
            <a:ext cx="73152" cy="27889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53728" y="1508760"/>
            <a:ext cx="2331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SEGMENTOS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53728" y="1929384"/>
            <a:ext cx="2286000" cy="21854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E1E1E"/>
                </a:solidFill>
              </a:rPr>
              <a:t>Para quem?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572000"/>
            <a:ext cx="5623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4572000"/>
            <a:ext cx="73152" cy="11430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4663440"/>
            <a:ext cx="5303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62640"/>
                </a:solidFill>
              </a:rPr>
              <a:t>CUSTOS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084064"/>
            <a:ext cx="52578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E1E1E"/>
                </a:solidFill>
              </a:rPr>
              <a:t>O que consome recursos?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572000"/>
            <a:ext cx="5486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4572000"/>
            <a:ext cx="73152" cy="114300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19088" y="4663440"/>
            <a:ext cx="5166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RECEITAS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19088" y="5084064"/>
            <a:ext cx="512064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E1E1E"/>
                </a:solidFill>
              </a:rPr>
              <a:t>Como entram recursos?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07040" y="6638544"/>
            <a:ext cx="1005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8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Por onde começar?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53312"/>
            <a:ext cx="10698480" cy="1828800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72768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</a:rPr>
              <a:t>Se a equipe ainda não sabe exatamente para quem cria valor e qual dor resolve, faz sentido começar preenchendo custos, parceiros ou tecnologia?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73152" cy="14173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Para pensar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Segmentos de clientes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3657600"/>
            <a:ext cx="73152" cy="14173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Para pensar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Proposta de valor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3657600"/>
            <a:ext cx="73152" cy="14173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Para pensar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Depois testar coerência com os demais blocos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0" y="6638544"/>
            <a:ext cx="1005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8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1 · Segmentos de clientes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881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646E"/>
                </a:solidFill>
              </a:rPr>
              <a:t>O Canvas começa perguntando para quem o negócio existe.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120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" cy="205740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08760"/>
            <a:ext cx="4892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PERGUNTAS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29384"/>
            <a:ext cx="4846320" cy="14538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Para quem criamos valor?
Quem tem a dor mais importante?
Quem usa, quem compra e quem se beneficia?
Há segmentos com necessidades diferentes?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120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417320"/>
            <a:ext cx="73152" cy="2057400"/>
          </a:xfrm>
          <a:prstGeom prst="rect">
            <a:avLst/>
          </a:prstGeom>
          <a:solidFill>
            <a:srgbClr val="AE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508760"/>
            <a:ext cx="4892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E3E3E"/>
                </a:solidFill>
              </a:rPr>
              <a:t>ERRO COMUM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1929384"/>
            <a:ext cx="4846320" cy="14538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“Todo mundo”, “empresas”, “jovens”, “usuários de internet”.
Se o segmento é genérico, os demais blocos tendem a ficar igualmente genéricos.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5196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62640"/>
                </a:solidFill>
              </a:rPr>
              <a:t>Conexão com o Trabalho 1: o público validado deve entrar no Canvas - não um público novo inventado para aumentar o mercado.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0" y="6638544"/>
            <a:ext cx="1005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8 ·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2 · Proposta de valor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53312"/>
            <a:ext cx="10698480" cy="1828800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72768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</a:rPr>
              <a:t>Se o cliente já resolve o problema de alguma forma, por que ele mudaria para a nossa proposta?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73152" cy="14173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Para pensar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Dor reduzida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3657600"/>
            <a:ext cx="73152" cy="14173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Para pensar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Ganho produzido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3657600"/>
            <a:ext cx="73152" cy="14173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Para pensar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Diferença relevante frente à alternativa atual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0" y="6638544"/>
            <a:ext cx="1005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8 ·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3 e 4 · Canais e relacionamento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881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646E"/>
                </a:solidFill>
              </a:rPr>
              <a:t>Chegar ao cliente e manter uma relação são problemas diferentes.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1208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" cy="224028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08760"/>
            <a:ext cx="4892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CANAIS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29384"/>
            <a:ext cx="4846320" cy="1636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Como o cliente descobre a proposta?
Como avalia?
Como compra ou adota?
Como recebe e utiliza?
Como recebe suporte ou continuidade?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1208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417320"/>
            <a:ext cx="73152" cy="224028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508760"/>
            <a:ext cx="4892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RELACIONAMENTO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1929384"/>
            <a:ext cx="4846320" cy="1636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Autosserviço? Atendimento pessoal? Comunidade? Suporte dedicado? Automação? Relacionamento contínuo ou pontual?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62640"/>
                </a:solidFill>
              </a:rPr>
              <a:t>“Instagram” não é estratégia de canal se a equipe não consegue explicar qual etapa da relação com o cliente ele cumpre.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0" y="6638544"/>
            <a:ext cx="1005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8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Situação: canal ou relacionamento?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53312"/>
            <a:ext cx="10698480" cy="1828800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72768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</a:rPr>
              <a:t>Uma plataforma B2B encontra clientes pelo LinkedIn, faz demonstração por videoconferência e oferece suporte por WhatsApp. Tudo isso pertence ao mesmo bloco?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73152" cy="14173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Para pensar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Descoberta e aquisição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3657600"/>
            <a:ext cx="73152" cy="14173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Para pensar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Entrega e uso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3657600"/>
            <a:ext cx="73152" cy="14173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Para pensar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Suporte e vínculo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0" y="6638544"/>
            <a:ext cx="1005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8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5 · Fontes de receita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881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646E"/>
                </a:solidFill>
              </a:rPr>
              <a:t>Receita responde como entram recursos para sustentar o projeto.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5661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73152" cy="228600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508760"/>
            <a:ext cx="3246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QUEM PAGA?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929384"/>
            <a:ext cx="3200400" cy="16824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Usuário, empresa, governo, patrocinador, parceiro ou outro ator?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417320"/>
            <a:ext cx="35661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15968" y="1417320"/>
            <a:ext cx="73152" cy="228600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1508760"/>
            <a:ext cx="3246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PELO QUÊ?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7136" y="1929384"/>
            <a:ext cx="3200400" cy="16824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Acesso, assinatura, transação, licença, serviço, resultado, publicidade ou outra forma?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91856" y="1417320"/>
            <a:ext cx="35661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91856" y="1417320"/>
            <a:ext cx="73152" cy="228600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024" y="1508760"/>
            <a:ext cx="3246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COM QUE LÓGICA?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4" y="1929384"/>
            <a:ext cx="3200400" cy="16824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Pagamento único, recorrente, por uso, por volume, freemium ou combinação?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480560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62640"/>
                </a:solidFill>
              </a:rPr>
              <a:t>Nem todo usuário precisa pagar. Mas um modelo sustentável precisa explicar de onde vêm os recursos.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0" y="6638544"/>
            <a:ext cx="1005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8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Caso: quem paga?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53312"/>
            <a:ext cx="10698480" cy="1828800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72768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</a:rPr>
              <a:t>Um aplicativo gratuito ajuda pacientes a lembrar medicamentos. Hospitais querem reduzir reinternações. Empresas de saúde querem melhorar adesão. Quem é o cliente?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73152" cy="14173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Para pensar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Usuário ≠ pagador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3657600"/>
            <a:ext cx="73152" cy="14173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Para pensar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Pode haver múltiplos segmentos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3657600"/>
            <a:ext cx="73152" cy="14173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Para pensar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Cada segmento pode exigir proposta de valor própria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0" y="6638544"/>
            <a:ext cx="1005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8 ·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6, 7 e 8 · Recursos, atividades e parcerias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881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646E"/>
                </a:solidFill>
              </a:rPr>
              <a:t>O lado operacional responde o que precisa existir para a proposta acontecer.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36118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73152" cy="251460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508760"/>
            <a:ext cx="3291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RECURSOS-CHAVE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929384"/>
            <a:ext cx="3246120" cy="19110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Pessoas, tecnologia, dados, marca, propriedade intelectual, infraestrutura, capital, conhecimento ou rede indispensável.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17320"/>
            <a:ext cx="36118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417320"/>
            <a:ext cx="73152" cy="251460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1508760"/>
            <a:ext cx="3291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ATIVIDADES-CHAVE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1929384"/>
            <a:ext cx="3246120" cy="19110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Desenvolver, operar, vender, analisar dados, atender, produzir, integrar, moderar, pesquisar ou outra ação essencial.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417320"/>
            <a:ext cx="36118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1417320"/>
            <a:ext cx="73152" cy="251460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2168" y="1508760"/>
            <a:ext cx="3291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PARCERIAS-CHAVE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1929384"/>
            <a:ext cx="3246120" cy="19110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Fornecedores, plataformas, instituições, comunidades ou organizações sem as quais o modelo perde eficiência ou viabilidade.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5262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62640"/>
                </a:solidFill>
              </a:rPr>
              <a:t>Pergunta crítica: isto é realmente “chave” ou apenas algo que seria conveniente ter?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0" y="6638544"/>
            <a:ext cx="1005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8 ·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Recurso ou atividade?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53312"/>
            <a:ext cx="10698480" cy="1828800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72768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</a:rPr>
              <a:t>“Equipe de desenvolvimento” e “desenvolver e manter a plataforma” pertencem ao mesmo bloco?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73152" cy="14173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Para pensar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Recurso = ativo/capacidade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3657600"/>
            <a:ext cx="73152" cy="14173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Para pensar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Atividade = ação indispensável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3657600"/>
            <a:ext cx="73152" cy="14173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Para pensar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Um depende do outro, mas não são iguais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0" y="6638544"/>
            <a:ext cx="1005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8 ·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9 · Estrutura de custos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881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646E"/>
                </a:solidFill>
              </a:rPr>
              <a:t>Toda promessa de valor exige algum esforço para ser entregue.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1208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" cy="2240280"/>
          </a:xfrm>
          <a:prstGeom prst="rect">
            <a:avLst/>
          </a:prstGeom>
          <a:solidFill>
            <a:srgbClr val="AE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08760"/>
            <a:ext cx="4892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E3E3E"/>
                </a:solidFill>
              </a:rPr>
              <a:t>CUSTOS / ESFORÇOS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29384"/>
            <a:ext cx="4846320" cy="1636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Pessoas, infraestrutura, tecnologia, aquisição de clientes, operação, suporte, fornecedores, licenças, logística e demais recursos necessários.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1208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417320"/>
            <a:ext cx="73152" cy="224028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508760"/>
            <a:ext cx="4892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PERGUNTA DE COERÊNCIA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1929384"/>
            <a:ext cx="4846320" cy="1636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Os custos refletem os recursos, atividades, canais e parceiros que a equipe colocou nos outros blocos?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62640"/>
                </a:solidFill>
              </a:rPr>
              <a:t>Se o Canvas exige uma operação complexa, mas o bloco de custos está quase vazio, existe uma incoerência visível.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0" y="6638544"/>
            <a:ext cx="1005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8 ·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Canvas é um sistema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53312"/>
            <a:ext cx="10698480" cy="1828800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72768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</a:rPr>
              <a:t>Se mudarmos de B2C para B2B, quais blocos provavelmente precisarão mudar junto com o segmento de clientes?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73152" cy="14173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Para pensar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Proposta de valor e canais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3657600"/>
            <a:ext cx="73152" cy="14173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Para pensar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Relacionamento e receitas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3657600"/>
            <a:ext cx="73152" cy="14173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Para pensar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Atividades, parceiros e custos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0" y="6638544"/>
            <a:ext cx="1005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8 ·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Canvas não é formulário: cada post-it é uma hipótese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17320"/>
            <a:ext cx="347472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73152" cy="237744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508760"/>
            <a:ext cx="31546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JÁ VALIDADO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1929384"/>
            <a:ext cx="3108960" cy="1773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Elementos sustentados por evidências do Trabalho 1.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17320"/>
            <a:ext cx="347472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417320"/>
            <a:ext cx="73152" cy="237744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508760"/>
            <a:ext cx="31546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HIPÓTESE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1929384"/>
            <a:ext cx="3108960" cy="1773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Elementos plausíveis, mas ainda não testados: canal, receita, parceiro, atividade, custo etc.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417320"/>
            <a:ext cx="347472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01000" y="1417320"/>
            <a:ext cx="73152" cy="2377440"/>
          </a:xfrm>
          <a:prstGeom prst="rect">
            <a:avLst/>
          </a:prstGeom>
          <a:solidFill>
            <a:srgbClr val="AE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2168" y="1508760"/>
            <a:ext cx="31546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E3E3E"/>
                </a:solidFill>
              </a:rPr>
              <a:t>LACUNA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8" y="1929384"/>
            <a:ext cx="3108960" cy="1773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Algo importante que a equipe ainda não sabe responder.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526280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62640"/>
                </a:solidFill>
              </a:rPr>
              <a:t>Um Canvas honesto com lacunas é mais útil do que um Canvas “completo” preenchido com invenções.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07040" y="6638544"/>
            <a:ext cx="1005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8 ·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O que enfraquece um Canvas?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347472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73152" cy="3429000"/>
          </a:xfrm>
          <a:prstGeom prst="rect">
            <a:avLst/>
          </a:prstGeom>
          <a:solidFill>
            <a:srgbClr val="AE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417320"/>
            <a:ext cx="31546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E3E3E"/>
                </a:solidFill>
              </a:rPr>
              <a:t>GENERALIZAÇÃO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1837943"/>
            <a:ext cx="3108960" cy="2825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“Todo mundo”, “redes sociais”, “qualidade”, “parcerias estratégicas”.
Palavras amplas escondem decisões que ainda não foram tomadas.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25880"/>
            <a:ext cx="347472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325880"/>
            <a:ext cx="73152" cy="3429000"/>
          </a:xfrm>
          <a:prstGeom prst="rect">
            <a:avLst/>
          </a:prstGeom>
          <a:solidFill>
            <a:srgbClr val="AE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417320"/>
            <a:ext cx="31546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E3E3E"/>
                </a:solidFill>
              </a:rPr>
              <a:t>BLOCOS ISOLADOS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1837943"/>
            <a:ext cx="3108960" cy="2825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Receita não conversa com cliente; custos não refletem atividades; canal não combina com comportamento do público.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325880"/>
            <a:ext cx="347472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01000" y="1325880"/>
            <a:ext cx="73152" cy="3429000"/>
          </a:xfrm>
          <a:prstGeom prst="rect">
            <a:avLst/>
          </a:prstGeom>
          <a:solidFill>
            <a:srgbClr val="AE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2168" y="1417320"/>
            <a:ext cx="31546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E3E3E"/>
                </a:solidFill>
              </a:rPr>
              <a:t>TRATAR COMO VERSÃO FINAL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8" y="1837943"/>
            <a:ext cx="3108960" cy="2825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O Canvas é um mapa de hipóteses. Deve mudar quando a equipe aprende mais.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257800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62640"/>
                </a:solidFill>
              </a:rPr>
              <a:t>O objetivo não é preencher rápido. É preencher com coerência.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07040" y="6638544"/>
            <a:ext cx="1005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8 ·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Atividade: primeira versão do BMC do projeto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80160"/>
            <a:ext cx="36118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73152" cy="429768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371600"/>
            <a:ext cx="3291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1 · COMECE PELO QUE JÁ SABE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792224"/>
            <a:ext cx="3246120" cy="3694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Transfira do Trabalho 1:
segmento prioritário;
proposta inicial de valor;
concorrência e comportamento atual.
Não recomece o projeto do zero.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280160"/>
            <a:ext cx="36118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0" y="1280160"/>
            <a:ext cx="73152" cy="429768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1371600"/>
            <a:ext cx="3291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2 · COMPLETE COMO HIPÓTESE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1792224"/>
            <a:ext cx="3246120" cy="3694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Canais, relacionamento, receitas, recursos, atividades, parceiros e custos.
Use frases curtas e específicas.
Marque aquilo que ainda precisa ser validado.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80160"/>
            <a:ext cx="36118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01000" y="1280160"/>
            <a:ext cx="73152" cy="429768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2168" y="1371600"/>
            <a:ext cx="3291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3 · TESTE A COERÊNCIA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8" y="1792224"/>
            <a:ext cx="3246120" cy="3694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Cada bloco sustenta os demais?
Há contradições?
O modelo cria, entrega e sustenta valor?
Qual hipótese é mais arriscada?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06440"/>
            <a:ext cx="10515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62640"/>
                </a:solidFill>
              </a:rPr>
              <a:t>Produto da aula: primeira versão do Business Model Canvas.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07040" y="6638544"/>
            <a:ext cx="1005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8 ·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Antes de terminar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53312"/>
            <a:ext cx="10698480" cy="1828800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72768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</a:rPr>
              <a:t>Qual bloco do Canvas da sua equipe contém hoje a hipótese que, se estiver errada, mais ameaça o projeto?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73152" cy="14173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Para pensar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Hipótese de cliente/valor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3657600"/>
            <a:ext cx="73152" cy="14173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Para pensar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Hipótese de entrega/operação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3657600"/>
            <a:ext cx="73152" cy="14173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Para pensar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Hipótese de receita/sustentação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0" y="6638544"/>
            <a:ext cx="1005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8 ·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B4CDE6"/>
                </a:solidFill>
              </a:rPr>
              <a:t>FECHAMENTO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1560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Canvas não é a resposta.
É o mapa das perguntas que o negócio ainda precisa responder.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10515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0">
                <a:solidFill>
                  <a:srgbClr val="FFFFFF"/>
                </a:solidFill>
              </a:rPr>
              <a:t>Próxima aula: como o modelo muda em negócios de impacto, bioeconomia e DeepTech.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638544"/>
            <a:ext cx="1005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8 ·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