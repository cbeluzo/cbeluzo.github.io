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55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Gestão de TI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498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AULA 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6809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Gestão de Serviços de TI e fundamentos do ITIL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89864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ITSM • valor • Service Value System • catálogo • incidente • problema • mudança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66760" y="1051560"/>
            <a:ext cx="2148840" cy="2148840"/>
          </a:xfrm>
          <a:prstGeom prst="ellipse">
            <a:avLst/>
          </a:prstGeom>
          <a:solidFill>
            <a:srgbClr val="2F855A">
              <a:alpha val="92000"/>
            </a:srgbClr>
          </a:solidFill>
          <a:ln w="12700">
            <a:solidFill>
              <a:srgbClr val="2F855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2148840"/>
            <a:ext cx="2148840" cy="2148840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82128" y="2971800"/>
            <a:ext cx="2148840" cy="2148840"/>
          </a:xfrm>
          <a:prstGeom prst="ellipse">
            <a:avLst/>
          </a:prstGeom>
          <a:solidFill>
            <a:srgbClr val="A9C5D6">
              <a:alpha val="65000"/>
            </a:srgbClr>
          </a:solidFill>
          <a:ln w="12700">
            <a:solidFill>
              <a:srgbClr val="A9C5D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2148840"/>
            <a:ext cx="1097280" cy="2057400"/>
          </a:xfrm>
          <a:prstGeom prst="line">
            <a:avLst/>
          </a:prstGeom>
          <a:noFill/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34640"/>
            <a:ext cx="868680" cy="640080"/>
          </a:xfrm>
          <a:prstGeom prst="line">
            <a:avLst/>
          </a:prstGeom>
          <a:noFill/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5897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CD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teoria • conceitos • aplicação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QUESTÃO ORIENTADORA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Mudar a unidade de análise: de tecnologia para serviço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91640"/>
            <a:ext cx="10652760" cy="1828800"/>
          </a:xfrm>
          <a:prstGeom prst="roundRect">
            <a:avLst/>
          </a:prstGeom>
          <a:solidFill>
            <a:srgbClr val="2F855A">
              <a:alpha val="8000"/>
            </a:srgbClr>
          </a:solidFill>
          <a:ln w="15240">
            <a:solidFill>
              <a:srgbClr val="2F855A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234440" y="1938528"/>
            <a:ext cx="96012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usuário não precisa de um servidor, um banco de dados ou uma API; ele precisa alcançar um resultado confiável usando um serviço.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43584" y="3054096"/>
            <a:ext cx="9555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Perspectiva de gestão de serviços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913632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913632"/>
            <a:ext cx="64008" cy="138988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78224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Componentes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471416"/>
            <a:ext cx="304495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Infraestrutura, aplicações, dados, pessoas e fornecedores são meios.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4416552" y="3913632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6552" y="3913632"/>
            <a:ext cx="64008" cy="138988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4078224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Serviço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9432" y="4471416"/>
            <a:ext cx="304495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Organiza capacidades para permitir que usuários obtenham resultados desejados.</a:t>
            </a:r>
            <a:endParaRPr lang="en-US" sz="1260" dirty="0"/>
          </a:p>
        </p:txBody>
      </p:sp>
      <p:sp>
        <p:nvSpPr>
          <p:cNvPr id="17" name="Shape 15"/>
          <p:cNvSpPr/>
          <p:nvPr/>
        </p:nvSpPr>
        <p:spPr>
          <a:xfrm>
            <a:off x="8055864" y="3913632"/>
            <a:ext cx="3364992" cy="1389888"/>
          </a:xfrm>
          <a:prstGeom prst="roundRect">
            <a:avLst>
              <a:gd name="adj" fmla="val 52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5864" y="3913632"/>
            <a:ext cx="64008" cy="138988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8744" y="4078224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38744" y="4471416"/>
            <a:ext cx="3044952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É percebido na relação entre resultados, experiência, custos e riscos.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FUNDAMENTOS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Serviço, resultado e valor: os conceitos que sustentam ITSM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3401568" cy="4407408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71600"/>
            <a:ext cx="64008" cy="44074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3619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Serviço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29384"/>
            <a:ext cx="3081528" cy="3712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Meio de possibilitar a co-criação de valor ao facilitar resultados desejados, sem que o consumidor tenha de gerenciar diretamente todos os custos e riscos específicos.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serviço integra pessoas, processos, informação, tecnologia e relações com fornecedores.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401568" cy="4407408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371600"/>
            <a:ext cx="64008" cy="440740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3619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Output × 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929384"/>
            <a:ext cx="3081528" cy="3712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Output é o produto direto de uma atividade: um relatório emitido, uma VM criada, um chamado encerrado.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Outcome é o efeito para o stakeholder: decisão tomada, operação restabelecida, venda concluída, atendimento mais rápido.</a:t>
            </a:r>
            <a:endParaRPr lang="en-US" sz="1310" dirty="0"/>
          </a:p>
        </p:txBody>
      </p:sp>
      <p:sp>
        <p:nvSpPr>
          <p:cNvPr id="13" name="Shape 11"/>
          <p:cNvSpPr/>
          <p:nvPr/>
        </p:nvSpPr>
        <p:spPr>
          <a:xfrm>
            <a:off x="8119872" y="1371600"/>
            <a:ext cx="3401568" cy="4407408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371600"/>
            <a:ext cx="64008" cy="44074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3619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1929384"/>
            <a:ext cx="3081528" cy="3712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Valor não é criado unilateralmente pela TI. Ele emerge da interação entre provedor, consumidor e demais stakeholders.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Resultados, custos, riscos e experiência influenciam a percepção de valor.</a:t>
            </a:r>
            <a:endParaRPr lang="en-US" sz="13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VALOR DO SERVIÇO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Utility e Warranty: dois lados da qualidade percebida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72768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572768"/>
            <a:ext cx="64008" cy="35204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7373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Utility — adequação ao propósito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2130552"/>
            <a:ext cx="4754880" cy="2825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Pergunta: “O serviço faz aquilo de que o usuário precisa?”</a:t>
            </a:r>
            <a:endParaRPr lang="en-US" sz="1430" dirty="0"/>
          </a:p>
          <a:p>
            <a:pPr indent="0" marL="0">
              <a:buNone/>
            </a:pP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Refere-se à funcionalidade e aos resultados habilitados. Exemplo: uma plataforma de IA permite enviar dados, executar o modelo e obter previsões relevantes.</a:t>
            </a:r>
            <a:endParaRPr lang="en-US" sz="1430" dirty="0"/>
          </a:p>
        </p:txBody>
      </p:sp>
      <p:sp>
        <p:nvSpPr>
          <p:cNvPr id="9" name="Shape 7"/>
          <p:cNvSpPr/>
          <p:nvPr/>
        </p:nvSpPr>
        <p:spPr>
          <a:xfrm>
            <a:off x="6272784" y="1572768"/>
            <a:ext cx="5074920" cy="3520440"/>
          </a:xfrm>
          <a:prstGeom prst="roundRect">
            <a:avLst>
              <a:gd name="adj" fmla="val 2078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72784" y="1572768"/>
            <a:ext cx="64008" cy="35204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7373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Warranty — adequação ao uso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55664" y="2130552"/>
            <a:ext cx="4754880" cy="28254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Pergunta: “Posso confiar que o serviço funcionará nas condições necessárias?”</a:t>
            </a:r>
            <a:endParaRPr lang="en-US" sz="1430" dirty="0"/>
          </a:p>
          <a:p>
            <a:pPr indent="0" marL="0">
              <a:buNone/>
            </a:pP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Relaciona-se a disponibilidade, capacidade, continuidade, segurança e outros requisitos que sustentam o uso confiável.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2F855A">
              <a:alpha val="10000"/>
            </a:srgbClr>
          </a:solidFill>
          <a:ln w="12700">
            <a:solidFill>
              <a:srgbClr val="2F855A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 serviço pode ter excelente funcionalidade e ainda gerar pouco valor se for instável, inseguro ou indisponível no momento necessário.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POSICIONAMENTO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ITSM e ITIL: relação entre disciplina e framework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5358384" cy="4224528"/>
          </a:xfrm>
          <a:prstGeom prst="roundRect">
            <a:avLst>
              <a:gd name="adj" fmla="val 173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64008" cy="422452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ITSM — IT Service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75104"/>
            <a:ext cx="5038344" cy="3529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É a disciplina de gestão voltada ao desenho, entrega, operação, suporte e melhoria de serviços habilitados por tecnologia.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ITSM envolve pessoas, fluxos de valor, processos, ferramentas, fornecedores, métricas e cultura de serviço.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Pode existir com ou sem ITIL.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417320"/>
            <a:ext cx="5340096" cy="4224528"/>
          </a:xfrm>
          <a:prstGeom prst="roundRect">
            <a:avLst>
              <a:gd name="adj" fmla="val 173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17320"/>
            <a:ext cx="64008" cy="42245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58191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1975104"/>
            <a:ext cx="5020056" cy="3529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É um corpo de boas práticas para gestão de serviços. Não é norma certificadora de organizações e não deve ser aplicado como receita rígida.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ITIL fornece conceitos, princípios, práticas e modelos que podem ser adaptados ao contexto e combinados com métodos ágeis, DevOps, COBIT e normas ISO.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EVOLUÇÃO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 orientação por processos ao sistema de valor de serviços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64208"/>
            <a:ext cx="3383280" cy="306324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933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ITIL v2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8992" y="2578608"/>
            <a:ext cx="2724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processos centrais de suporte e entrega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2416" y="38221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i="1" dirty="0">
                <a:solidFill>
                  <a:srgbClr val="627D9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“como organizar processos?”</a:t>
            </a:r>
            <a:endParaRPr lang="en-US" sz="1140" dirty="0"/>
          </a:p>
        </p:txBody>
      </p:sp>
      <p:sp>
        <p:nvSpPr>
          <p:cNvPr id="9" name="Shape 7"/>
          <p:cNvSpPr/>
          <p:nvPr/>
        </p:nvSpPr>
        <p:spPr>
          <a:xfrm>
            <a:off x="4544568" y="1664208"/>
            <a:ext cx="3383280" cy="306324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9933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ITIL v3 / 2011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73752" y="2578608"/>
            <a:ext cx="2724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ciclo de vida do serviço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37176" y="38221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i="1" dirty="0">
                <a:solidFill>
                  <a:srgbClr val="627D9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“como gerir o ciclo de vida?”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8339328" y="1664208"/>
            <a:ext cx="3383280" cy="3063240"/>
          </a:xfrm>
          <a:prstGeom prst="roundRect">
            <a:avLst/>
          </a:prstGeom>
          <a:solidFill>
            <a:srgbClr val="2F855A">
              <a:alpha val="92000"/>
            </a:srgbClr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22208" y="19933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ITIL 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68512" y="2578608"/>
            <a:ext cx="2724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valor, princípios, dimensões, práticas e value streams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31936" y="3822192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i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“como transformar demanda e oportunidade em valor?”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2F855A">
              <a:alpha val="10000"/>
            </a:srgbClr>
          </a:solidFill>
          <a:ln w="12700">
            <a:solidFill>
              <a:srgbClr val="2F855A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Bon e Freitas são importantes para fundamentos clássicos; a nomenclatura da aula é atualizada para ITIL 4.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ITIL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Service Value System (SVS): como a organização cria valor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28800"/>
            <a:ext cx="2062886" cy="1353312"/>
          </a:xfrm>
          <a:prstGeom prst="roundRect">
            <a:avLst/>
          </a:prstGeom>
          <a:solidFill>
            <a:srgbClr val="2F855A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56816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Oportunidade / demanda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359152"/>
            <a:ext cx="184343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necessidades e possibilidades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02966" y="2414016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7558" y="1828800"/>
            <a:ext cx="2062886" cy="135331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8998" y="1956816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Princípios + governança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7286" y="2359152"/>
            <a:ext cx="184343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orientam decisões e comportamento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12157" y="2414016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6749" y="1828800"/>
            <a:ext cx="2062886" cy="135331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8189" y="1956816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Cadeia de valor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86477" y="2359152"/>
            <a:ext cx="184343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organiza atividades de criação e entrega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21347" y="2414016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85939" y="1828800"/>
            <a:ext cx="2062886" cy="135331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7379" y="1956816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Práticas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95667" y="2359152"/>
            <a:ext cx="184343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capacidades especializadas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30538" y="2414016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5130" y="1828800"/>
            <a:ext cx="2062886" cy="1353312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6570" y="1956816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4858" y="2359152"/>
            <a:ext cx="1843430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resultados co-criados para stakeholders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51560" y="3822192"/>
            <a:ext cx="10058400" cy="1463040"/>
          </a:xfrm>
          <a:prstGeom prst="roundRect">
            <a:avLst>
              <a:gd name="adj" fmla="val 500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3822192"/>
            <a:ext cx="64008" cy="14630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3986784"/>
            <a:ext cx="9738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SVS é um sistema, não uma sequência rígida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4379976"/>
            <a:ext cx="9738360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Service Value System integra princípios orientadores, governança, Service Value Chain, práticas e melhoria contínua. A ideia central é permitir que diferentes elementos trabalhem de forma coerente para converter demanda e oportunidade em valor.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PRINCÍPIOS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Sete princípios orientadores do ITIL 4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371600"/>
            <a:ext cx="2560320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371600"/>
            <a:ext cx="64008" cy="181051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3619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Foque no valor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86384" y="1929384"/>
            <a:ext cx="2240280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Toda atividade deve ser relacionada ao valor percebido pelos stakeholders.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3419856" y="1371600"/>
            <a:ext cx="2560320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9856" y="1371600"/>
            <a:ext cx="64008" cy="181051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153619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Comece de onde você está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3602736" y="1929384"/>
            <a:ext cx="2240280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Avalie o que já existe antes de descartar processos, dados ou capacidades úteis.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6236208" y="1371600"/>
            <a:ext cx="2560320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371600"/>
            <a:ext cx="64008" cy="181051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53619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Progrida iterativamente com feedback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419088" y="1929384"/>
            <a:ext cx="2240280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Entregas menores reduzem incerteza e permitem aprendizagem.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9052560" y="1371600"/>
            <a:ext cx="2560320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371600"/>
            <a:ext cx="64008" cy="181051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153619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Colabore e promova visibilidade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9235440" y="1929384"/>
            <a:ext cx="2240280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Decisões melhores dependem de informação compartilhada e participação adequada.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2011680" y="3547872"/>
            <a:ext cx="2560320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0" y="3547872"/>
            <a:ext cx="64008" cy="181051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37124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Pense e trabalhe holisticamente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2194560" y="4105656"/>
            <a:ext cx="2240280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Serviços dependem de sistemas interconectados; otimização local pode prejudicar o todo.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4828032" y="3547872"/>
            <a:ext cx="2560320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28032" y="3547872"/>
            <a:ext cx="64008" cy="181051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7124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Mantenha simples e prático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5010912" y="4105656"/>
            <a:ext cx="2240280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 apenas processos, controles e artefatos que efetivamente agregam valor.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7644384" y="3547872"/>
            <a:ext cx="2560320" cy="1810512"/>
          </a:xfrm>
          <a:prstGeom prst="roundRect">
            <a:avLst>
              <a:gd name="adj" fmla="val 404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44384" y="3547872"/>
            <a:ext cx="64008" cy="181051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27264" y="371246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Otimize e automatize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7827264" y="4105656"/>
            <a:ext cx="2240280" cy="11155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Elimine desperdícios antes de automatizar; tecnologia deve ampliar processos já compreendidos.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VISÃO HOLÍSTICA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 quatro dimensões da gestão de serviços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25880"/>
            <a:ext cx="64008" cy="18745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4904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Organizações e pessoas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883664"/>
            <a:ext cx="4937760" cy="1179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Papéis, competências, estrutura, cultura, liderança, comunicação e capacidade de colaboração.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325880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325880"/>
            <a:ext cx="64008" cy="18745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4904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Informação e tecnologia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1883664"/>
            <a:ext cx="4937760" cy="1179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Dados, conhecimento, aplicações, infraestrutura, automação, arquitetura, segurança e ferramentas.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456432"/>
            <a:ext cx="64008" cy="187452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210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Parceiros e fornecedores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014216"/>
            <a:ext cx="4937760" cy="1179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Estratégia de sourcing, contratos, integração de terceiros, dependências, riscos e desempenho de fornecedores.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874520"/>
          </a:xfrm>
          <a:prstGeom prst="roundRect">
            <a:avLst>
              <a:gd name="adj" fmla="val 390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3456432"/>
            <a:ext cx="64008" cy="187452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36210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Fluxos de valor e processos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2512" y="4014216"/>
            <a:ext cx="4937760" cy="1179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Como atividades são organizadas ponta a ponta para transformar demanda em produtos e serviços que entregam valor.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2F855A">
              <a:alpha val="10000"/>
            </a:srgbClr>
          </a:solidFill>
          <a:ln w="12700">
            <a:solidFill>
              <a:srgbClr val="2F855A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Mudanças em uma dimensão frequentemente produzem efeitos nas demais; a gestão de serviços deve evitar soluções exclusivamente tecnológicas.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CADEIA DE VALOR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Service Value Chain: seis atividades conectadas por value streams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371600"/>
            <a:ext cx="3364992" cy="1847088"/>
          </a:xfrm>
          <a:prstGeom prst="roundRect">
            <a:avLst>
              <a:gd name="adj" fmla="val 396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371600"/>
            <a:ext cx="64008" cy="184708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536192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Plan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877824" y="1929384"/>
            <a:ext cx="3044952" cy="11521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direção e entendimento compartilhado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462272" y="1371600"/>
            <a:ext cx="3364992" cy="1847088"/>
          </a:xfrm>
          <a:prstGeom prst="roundRect">
            <a:avLst>
              <a:gd name="adj" fmla="val 396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1371600"/>
            <a:ext cx="64008" cy="184708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536192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Improve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645152" y="1929384"/>
            <a:ext cx="3044952" cy="11521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melhoria contínua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364992" cy="1847088"/>
          </a:xfrm>
          <a:prstGeom prst="roundRect">
            <a:avLst>
              <a:gd name="adj" fmla="val 396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371600"/>
            <a:ext cx="64008" cy="184708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536192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Engage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412480" y="1929384"/>
            <a:ext cx="3044952" cy="11521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entendimento e relacionamento com stakeholders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694944" y="3547872"/>
            <a:ext cx="3364992" cy="1847088"/>
          </a:xfrm>
          <a:prstGeom prst="roundRect">
            <a:avLst>
              <a:gd name="adj" fmla="val 396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" y="3547872"/>
            <a:ext cx="64008" cy="184708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712464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&amp; Transition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877824" y="4105656"/>
            <a:ext cx="3044952" cy="11521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desenho e transição de produtos e serviços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4462272" y="3547872"/>
            <a:ext cx="3364992" cy="1847088"/>
          </a:xfrm>
          <a:prstGeom prst="roundRect">
            <a:avLst>
              <a:gd name="adj" fmla="val 396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62272" y="3547872"/>
            <a:ext cx="64008" cy="184708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3712464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Obtain / Build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4645152" y="4105656"/>
            <a:ext cx="3044952" cy="11521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obter ou construir componentes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8229600" y="3547872"/>
            <a:ext cx="3364992" cy="1847088"/>
          </a:xfrm>
          <a:prstGeom prst="roundRect">
            <a:avLst>
              <a:gd name="adj" fmla="val 396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3547872"/>
            <a:ext cx="64008" cy="184708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712464"/>
            <a:ext cx="3044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Deliver &amp; Support</a:t>
            </a:r>
            <a:endParaRPr lang="en-US" sz="1520" dirty="0"/>
          </a:p>
        </p:txBody>
      </p:sp>
      <p:sp>
        <p:nvSpPr>
          <p:cNvPr id="28" name="Text 26"/>
          <p:cNvSpPr/>
          <p:nvPr/>
        </p:nvSpPr>
        <p:spPr>
          <a:xfrm>
            <a:off x="8412480" y="4105656"/>
            <a:ext cx="3044952" cy="11521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entregar e suportar serviços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2F855A">
              <a:alpha val="10000"/>
            </a:srgbClr>
          </a:solidFill>
          <a:ln w="12700">
            <a:solidFill>
              <a:srgbClr val="2F855A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 value stream combina atividades da cadeia em uma sequência específica para um cenário — por exemplo, resolver um incidente ou lançar uma mudança.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SERVICE CATALOGUE MANAGEMENT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Catálogo de serviços: tornar a oferta visível e gerenciável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53312"/>
            <a:ext cx="64008" cy="44348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1790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Para que serve?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11096"/>
            <a:ext cx="3520440" cy="3739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catálogo organiza informação sobre serviços disponíveis e relevantes para grupos de usuários. Ele melhora entendimento, acesso, responsabilidade e expectativas.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Não é apenas uma “lista de sistemas”: descreve serviços do ponto de vista de consumo e suporte.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4754880" y="1353312"/>
            <a:ext cx="3090672" cy="896112"/>
          </a:xfrm>
          <a:prstGeom prst="roundRect">
            <a:avLst>
              <a:gd name="adj" fmla="val 81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53312"/>
            <a:ext cx="64008" cy="89611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17904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Nome</a:t>
            </a:r>
            <a:endParaRPr lang="en-US" sz="1240" dirty="0"/>
          </a:p>
        </p:txBody>
      </p:sp>
      <p:sp>
        <p:nvSpPr>
          <p:cNvPr id="12" name="Text 10"/>
          <p:cNvSpPr/>
          <p:nvPr/>
        </p:nvSpPr>
        <p:spPr>
          <a:xfrm>
            <a:off x="4937760" y="1911096"/>
            <a:ext cx="27706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identificação clara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119872" y="1353312"/>
            <a:ext cx="3090672" cy="896112"/>
          </a:xfrm>
          <a:prstGeom prst="roundRect">
            <a:avLst>
              <a:gd name="adj" fmla="val 81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353312"/>
            <a:ext cx="64008" cy="8961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17904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Descrição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8302752" y="1911096"/>
            <a:ext cx="27706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resultado e finalidade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4754880" y="2432304"/>
            <a:ext cx="3090672" cy="896112"/>
          </a:xfrm>
          <a:prstGeom prst="roundRect">
            <a:avLst>
              <a:gd name="adj" fmla="val 81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432304"/>
            <a:ext cx="64008" cy="89611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596896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Usuários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4937760" y="2990088"/>
            <a:ext cx="27706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quem pode consumir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8119872" y="2432304"/>
            <a:ext cx="3090672" cy="896112"/>
          </a:xfrm>
          <a:prstGeom prst="roundRect">
            <a:avLst>
              <a:gd name="adj" fmla="val 81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19872" y="2432304"/>
            <a:ext cx="64008" cy="8961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2596896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Owner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8302752" y="2990088"/>
            <a:ext cx="27706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responsável pelo serviço</a:t>
            </a:r>
            <a:endParaRPr lang="en-US" sz="1070" dirty="0"/>
          </a:p>
        </p:txBody>
      </p:sp>
      <p:sp>
        <p:nvSpPr>
          <p:cNvPr id="25" name="Shape 23"/>
          <p:cNvSpPr/>
          <p:nvPr/>
        </p:nvSpPr>
        <p:spPr>
          <a:xfrm>
            <a:off x="4754880" y="3511296"/>
            <a:ext cx="3090672" cy="896112"/>
          </a:xfrm>
          <a:prstGeom prst="roundRect">
            <a:avLst>
              <a:gd name="adj" fmla="val 81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511296"/>
            <a:ext cx="64008" cy="89611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675888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Disponibilidade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4937760" y="4069080"/>
            <a:ext cx="27706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janela e restrições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8119872" y="3511296"/>
            <a:ext cx="3090672" cy="896112"/>
          </a:xfrm>
          <a:prstGeom prst="roundRect">
            <a:avLst>
              <a:gd name="adj" fmla="val 81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19872" y="3511296"/>
            <a:ext cx="64008" cy="8961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3675888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Suporte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8302752" y="4069080"/>
            <a:ext cx="27706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canais e horários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4754880" y="4590288"/>
            <a:ext cx="3090672" cy="896112"/>
          </a:xfrm>
          <a:prstGeom prst="roundRect">
            <a:avLst>
              <a:gd name="adj" fmla="val 81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4590288"/>
            <a:ext cx="64008" cy="89611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75488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Nível de serviço</a:t>
            </a:r>
            <a:endParaRPr lang="en-US" sz="1240" dirty="0"/>
          </a:p>
        </p:txBody>
      </p:sp>
      <p:sp>
        <p:nvSpPr>
          <p:cNvPr id="36" name="Text 34"/>
          <p:cNvSpPr/>
          <p:nvPr/>
        </p:nvSpPr>
        <p:spPr>
          <a:xfrm>
            <a:off x="4937760" y="5148072"/>
            <a:ext cx="27706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metas / expectativas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8119872" y="4590288"/>
            <a:ext cx="3090672" cy="896112"/>
          </a:xfrm>
          <a:prstGeom prst="roundRect">
            <a:avLst>
              <a:gd name="adj" fmla="val 816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19872" y="4590288"/>
            <a:ext cx="64008" cy="896112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02752" y="4754880"/>
            <a:ext cx="2770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Dependências</a:t>
            </a:r>
            <a:endParaRPr lang="en-US" sz="1240" dirty="0"/>
          </a:p>
        </p:txBody>
      </p:sp>
      <p:sp>
        <p:nvSpPr>
          <p:cNvPr id="40" name="Text 38"/>
          <p:cNvSpPr/>
          <p:nvPr/>
        </p:nvSpPr>
        <p:spPr>
          <a:xfrm>
            <a:off x="8302752" y="5148072"/>
            <a:ext cx="27706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tecnologia e fornecedores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PRÁTICA PRIORITÁRIA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Incident Management: restaurar o serviço rapidamente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3657600" cy="4498848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53312"/>
            <a:ext cx="64008" cy="449884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1790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Incidente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11096"/>
            <a:ext cx="3337560" cy="3803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Interrupção não planejada de um serviço ou redução de sua qualidade. O objetivo é minimizar impacto e restabelecer a operação normal o mais rapidamente possível.</a:t>
            </a:r>
            <a:endParaRPr lang="en-US" sz="1360" dirty="0"/>
          </a:p>
          <a:p>
            <a:pPr indent="0" marL="0">
              <a:buNone/>
            </a:pP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prioridade costuma refletir impacto × urgência. Nem todo incidente exige conhecer imediatamente a causa raiz.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4645152" y="1572768"/>
            <a:ext cx="1207008" cy="1143000"/>
          </a:xfrm>
          <a:prstGeom prst="roundRect">
            <a:avLst/>
          </a:prstGeom>
          <a:solidFill>
            <a:srgbClr val="2F855A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70078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Detectar / registrar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98755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usuário ou monitoramento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33872" y="2052828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98464" y="1572768"/>
            <a:ext cx="1207008" cy="11430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170078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Classificar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08192" y="2103120"/>
            <a:ext cx="98755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impacto, urgência, categoria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87184" y="2052828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51776" y="1572768"/>
            <a:ext cx="1207008" cy="11430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3216" y="170078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Diagnosticar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61504" y="2103120"/>
            <a:ext cx="98755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investigação e workaround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40496" y="2052828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5088" y="1572768"/>
            <a:ext cx="1207008" cy="11430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96528" y="170078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Restaurar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14816" y="2103120"/>
            <a:ext cx="98755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recuperar o serviço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93808" y="2052828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0" y="1572768"/>
            <a:ext cx="1207008" cy="1143000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9840" y="1700784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Encerrar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168128" y="2103120"/>
            <a:ext cx="987552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registrar solução e evidências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45152" y="3063240"/>
            <a:ext cx="6620256" cy="2331720"/>
          </a:xfrm>
          <a:prstGeom prst="roundRect">
            <a:avLst>
              <a:gd name="adj" fmla="val 3137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45152" y="3063240"/>
            <a:ext cx="64008" cy="23317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227832"/>
            <a:ext cx="6300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Exemplo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28032" y="3621024"/>
            <a:ext cx="6300216" cy="1636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plataforma de IA está indisponível para todos os clientes. Reiniciar uma instância restaura o serviço. Mesmo sem conhecer ainda a causa definitiva, o objetivo imediato de Incident Management foi alcançado: o impacto foi interrompido e o serviço voltou a operar.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PRÁTICAS RELACIONADAS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Problem Management e Change Enablement: eliminar causas e controlar alterações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5358384" cy="4352544"/>
          </a:xfrm>
          <a:prstGeom prst="roundRect">
            <a:avLst>
              <a:gd name="adj" fmla="val 168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71600"/>
            <a:ext cx="64008" cy="4352544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36192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Problem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29384"/>
            <a:ext cx="5038344" cy="3657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Problema é a causa, ou causa potencial, de um ou mais incidentes. A prática busca reduzir probabilidade e impacto por meio da identificação de causas, gerenciamento de erros conhecidos e uso de soluções de contorno quando necessário.</a:t>
            </a:r>
            <a:endParaRPr lang="en-US" sz="1370" dirty="0"/>
          </a:p>
          <a:p>
            <a:pPr indent="0" marL="0">
              <a:buNone/>
            </a:pP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 central: “por que isso aconteceu e como reduzir recorrência?”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6199632" y="1371600"/>
            <a:ext cx="5340096" cy="4352544"/>
          </a:xfrm>
          <a:prstGeom prst="roundRect">
            <a:avLst>
              <a:gd name="adj" fmla="val 168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371600"/>
            <a:ext cx="64008" cy="4352544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Change Enablement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1929384"/>
            <a:ext cx="5020056" cy="3657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Busca maximizar mudanças bem-sucedidas por meio de avaliação de risco, autorização adequada e gerenciamento do calendário de mudanças.</a:t>
            </a:r>
            <a:endParaRPr lang="en-US" sz="1370" dirty="0"/>
          </a:p>
          <a:p>
            <a:pPr indent="0" marL="0">
              <a:buNone/>
            </a:pP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objetivo não é impedir alterações; é permitir mudança em velocidade compatível com risco e contexto.</a:t>
            </a:r>
            <a:endParaRPr lang="en-US" sz="1370" dirty="0"/>
          </a:p>
          <a:p>
            <a:pPr indent="0" marL="0">
              <a:buNone/>
            </a:pP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 central: “como alterar o serviço com risco controlado?”</a:t>
            </a:r>
            <a:endParaRPr lang="en-US" sz="13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INTEGRAÇÃO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Do incidente à mudança: fluxo integrado de aprendizagem operacional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72768"/>
            <a:ext cx="1694688" cy="1298448"/>
          </a:xfrm>
          <a:prstGeom prst="roundRect">
            <a:avLst/>
          </a:prstGeom>
          <a:solidFill>
            <a:srgbClr val="2F855A"/>
          </a:solidFill>
          <a:ln w="15240">
            <a:solidFill>
              <a:srgbClr val="2F8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00784"/>
            <a:ext cx="151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Incidente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103120"/>
            <a:ext cx="147523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serviço indisponível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34768" y="2130552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99360" y="1572768"/>
            <a:ext cx="1694688" cy="129844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0800" y="1700784"/>
            <a:ext cx="151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Restauração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09088" y="2103120"/>
            <a:ext cx="147523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workaround ou recuperação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75760" y="2130552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0352" y="1572768"/>
            <a:ext cx="1694688" cy="129844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1792" y="1700784"/>
            <a:ext cx="151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Problema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50080" y="2103120"/>
            <a:ext cx="147523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recorrência ou investigação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16752" y="2130552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1572768"/>
            <a:ext cx="1694688" cy="129844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700784"/>
            <a:ext cx="151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Causa / erro conhecido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91072" y="2103120"/>
            <a:ext cx="147523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diagnóstico e opção de correção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57744" y="2130552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22336" y="1572768"/>
            <a:ext cx="1694688" cy="129844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3776" y="1700784"/>
            <a:ext cx="151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Mudança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32064" y="2103120"/>
            <a:ext cx="147523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avaliar, autorizar e implementar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98736" y="2130552"/>
            <a:ext cx="201168" cy="182880"/>
          </a:xfrm>
          <a:prstGeom prst="chevron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63328" y="1572768"/>
            <a:ext cx="1694688" cy="129844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54768" y="1700784"/>
            <a:ext cx="1511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73056" y="2103120"/>
            <a:ext cx="1475232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verificar resultado e aprender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68680" y="3291840"/>
            <a:ext cx="10469880" cy="2103120"/>
          </a:xfrm>
          <a:prstGeom prst="roundRect">
            <a:avLst>
              <a:gd name="adj" fmla="val 3478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3291840"/>
            <a:ext cx="64008" cy="21031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34564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Exemplo encadeado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1560" y="3849624"/>
            <a:ext cx="10149840" cy="14081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plataforma de IA cai → equipe reinicia o serviço → percebe que o mesmo evento ocorreu várias vezes → abre um problema → identifica vazamento de memória → cria uma correção → a alteração é avaliada e autorizada → o componente é atualizado → métricas confirmam que a recorrência cessou.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Cada prática possui um propósito distinto, mas elas se conectam no mesmo value stream.</a:t>
            </a:r>
            <a:endParaRPr lang="en-US" sz="13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APLICAÇÃO EM GRUPO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Atividade 8 — catálogo de serviços e processos prioritários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16736"/>
            <a:ext cx="3675888" cy="4535424"/>
          </a:xfrm>
          <a:prstGeom prst="roundRect">
            <a:avLst>
              <a:gd name="adj" fmla="val 199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16736"/>
            <a:ext cx="64008" cy="4535424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81328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Parte A — catálogo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874520"/>
            <a:ext cx="3355848" cy="3840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Para a AI Solutions Brasil, defina pelo menos cinco serviços. Para cada um, indique: nome, usuário, finalidade, owner, canal de suporte e uma expectativa de nível de serviço.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Exemplos: Plataforma de IA; Ambiente de Desenvolvimento; Armazenamento de Dados; Identidade e Acesso; Service Desk.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53712" y="1316736"/>
            <a:ext cx="6949440" cy="1965960"/>
          </a:xfrm>
          <a:prstGeom prst="roundRect">
            <a:avLst>
              <a:gd name="adj" fmla="val 372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316736"/>
            <a:ext cx="64008" cy="196596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481328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Parte B — classifique o cenário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6592" y="1874520"/>
            <a:ext cx="6629400" cy="1271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Às 9h15 a plataforma fica indisponível. Às 9h40 um reinício restaura o serviço. O evento já ocorreu três vezes no mês. A investigação identifica vazamento de memória. A correção exige atualizar um componente em produção.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4553712" y="3529584"/>
            <a:ext cx="6949440" cy="2322576"/>
          </a:xfrm>
          <a:prstGeom prst="roundRect">
            <a:avLst>
              <a:gd name="adj" fmla="val 315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3529584"/>
            <a:ext cx="64008" cy="2322576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3694176"/>
            <a:ext cx="6629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Resposta esperada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6592" y="4087368"/>
            <a:ext cx="6629400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Incidente: indisponibilidade.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Workaround: reinício do serviço.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Problema: recorrência associada ao consumo de memória.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Causa conhecida: defeito no componente.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Mudança: atualização/correção em produção, com avaliação de risco e autorização.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2F855A">
              <a:alpha val="10000"/>
            </a:srgbClr>
          </a:solidFill>
          <a:ln w="12700">
            <a:solidFill>
              <a:srgbClr val="2F855A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Critério de qualidade: distinguir finalidade de cada prática e mostrar como elas se conectam para proteger valor e continuidade do serviço.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2F855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FECHAMENTO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Síntese e referências para estudo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1732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17320"/>
            <a:ext cx="64008" cy="41605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8191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Ideias que devem permanecer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975104"/>
            <a:ext cx="5074920" cy="3465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Gestão de serviços muda o foco de ativos tecnológicos isolados para resultados e valor percebido. ITIL 4 estrutura essa visão por meio do Service Value System, princípios orientadores, quatro dimensões, Service Value Chain e práticas.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Incidente restaura serviço; problema investiga e reduz causas; Change Enablement controla o risco das alterações; catálogo torna a oferta de serviços compreensível e gerenciável.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236208" y="141732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417320"/>
            <a:ext cx="64008" cy="19659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58191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Referências-base da disciplina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1975104"/>
            <a:ext cx="5001768" cy="1271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BON, J. et al. Fundamentos do Gerenciamento de Serviços de TI baseado no ITIL — fundamentos clássicos.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FREITAS, M. A. S. Fundamentos do Gerenciamento de Serviços de TI.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236208" y="361188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3611880"/>
            <a:ext cx="64008" cy="19659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377647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Atualização e referências complementares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4169664"/>
            <a:ext cx="5001768" cy="1271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PeopleCert. ITIL 4 Foundation — conceitos do Service Value System, guiding principles e quatro dimensões.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PeopleCert. ITIL 4 Practice Guides — Incident Management, Problem Management, Change Enablement e Service Catalogue Management.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m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m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IFSP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9 — Gestão de Serviços de TI e fundamentos do ITIL</dc:title>
  <dc:subject>ITSM; ITIL 4; valor, Service Value System, catálogo, incidente, problema e mudança</dc:subject>
  <dc:creator>OpenAI — material didático preparado para uso acadêmico</dc:creator>
  <cp:lastModifiedBy>OpenAI — material didático preparado para uso acadêmico</cp:lastModifiedBy>
  <cp:revision>1</cp:revision>
  <dcterms:created xsi:type="dcterms:W3CDTF">2026-10-07T11:34:12Z</dcterms:created>
  <dcterms:modified xsi:type="dcterms:W3CDTF">2026-10-07T11:34:12Z</dcterms:modified>
</cp:coreProperties>
</file>