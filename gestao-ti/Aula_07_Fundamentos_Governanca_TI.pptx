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5566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D9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Gestão de TI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4980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0E749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AULA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768096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Fundamentos de Governança de TI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2898648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2E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Modelo genérico de governança • princípios • políticas • mecanismos de controle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366760" y="1051560"/>
            <a:ext cx="2148840" cy="2148840"/>
          </a:xfrm>
          <a:prstGeom prst="ellipse">
            <a:avLst/>
          </a:prstGeom>
          <a:solidFill>
            <a:srgbClr val="0E7490">
              <a:alpha val="92000"/>
            </a:srgbClr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2148840"/>
            <a:ext cx="2148840" cy="2148840"/>
          </a:xfrm>
          <a:prstGeom prst="ellipse">
            <a:avLst/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82128" y="2971800"/>
            <a:ext cx="2148840" cy="2148840"/>
          </a:xfrm>
          <a:prstGeom prst="ellipse">
            <a:avLst/>
          </a:prstGeom>
          <a:solidFill>
            <a:srgbClr val="A9C5D6">
              <a:alpha val="65000"/>
            </a:srgbClr>
          </a:solidFill>
          <a:ln w="12700">
            <a:solidFill>
              <a:srgbClr val="A9C5D6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9640" y="2148840"/>
            <a:ext cx="1097280" cy="2057400"/>
          </a:xfrm>
          <a:prstGeom prst="line">
            <a:avLst/>
          </a:prstGeom>
          <a:noFill/>
          <a:ln w="254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6920" y="2834640"/>
            <a:ext cx="868680" cy="640080"/>
          </a:xfrm>
          <a:prstGeom prst="line">
            <a:avLst/>
          </a:prstGeom>
          <a:noFill/>
          <a:ln w="254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58978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CCCDC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teoria • conceitos • aplicação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QUESTÃO ORIENTADORA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problema de governança começa antes da tecnologia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91640"/>
            <a:ext cx="10652760" cy="1828800"/>
          </a:xfrm>
          <a:prstGeom prst="roundRect">
            <a:avLst/>
          </a:prstGeom>
          <a:solidFill>
            <a:srgbClr val="0E7490">
              <a:alpha val="8000"/>
            </a:srgbClr>
          </a:solidFill>
          <a:ln w="15240">
            <a:solidFill>
              <a:srgbClr val="0E7490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813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749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“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234440" y="1938528"/>
            <a:ext cx="9601200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Quem decide sobre tecnologia, com base em quais princípios, assumindo quais riscos e respondendo por quais resultados?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43584" y="3054096"/>
            <a:ext cx="9555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Questão central da governança de TI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6384" y="3886200"/>
            <a:ext cx="3346704" cy="1417320"/>
          </a:xfrm>
          <a:prstGeom prst="roundRect">
            <a:avLst>
              <a:gd name="adj" fmla="val 516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3886200"/>
            <a:ext cx="64008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405079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Escassez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9264" y="4443984"/>
            <a:ext cx="3026664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Orçamento, pessoas, tempo e capacidade tecnológica são limitados. Nem toda demanda pode ser atendida.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4425696" y="3886200"/>
            <a:ext cx="3346704" cy="1417320"/>
          </a:xfrm>
          <a:prstGeom prst="roundRect">
            <a:avLst>
              <a:gd name="adj" fmla="val 516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25696" y="3886200"/>
            <a:ext cx="64008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405079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Conflitos de interesse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08576" y="4443984"/>
            <a:ext cx="3026664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Áreas diferentes priorizam velocidade, segurança, inovação, custo, conformidade ou estabilidade.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8065008" y="3886200"/>
            <a:ext cx="3346704" cy="1417320"/>
          </a:xfrm>
          <a:prstGeom prst="roundRect">
            <a:avLst>
              <a:gd name="adj" fmla="val 516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65008" y="3886200"/>
            <a:ext cx="64008" cy="141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47888" y="405079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Responsabilização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47888" y="4443984"/>
            <a:ext cx="3026664" cy="7223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Decisões tecnológicas geram benefícios e riscos. É necessário definir autoridade, critérios e prestação de contas.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FUNDAMENTO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Governança organizacional: direção, supervisão e accountability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408176"/>
            <a:ext cx="5440680" cy="4160520"/>
          </a:xfrm>
          <a:prstGeom prst="roundRect">
            <a:avLst>
              <a:gd name="adj" fmla="val 1758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408176"/>
            <a:ext cx="64008" cy="4160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57276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Conceito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86384" y="1965960"/>
            <a:ext cx="5120640" cy="34655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Governança é o sistema pelo qual a organização é dirigida, supervisionada e responsabilizada. Ela define como interesses de diferentes partes são considerados, como objetivos são estabelecidos, como decisões relevantes são tomadas e como resultados e riscos são acompanhados.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governança não substitui a gestão; ela estabelece o contexto, as expectativas e os limites dentro dos quais a gestão atua.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6208" y="1408176"/>
            <a:ext cx="5321808" cy="1143000"/>
          </a:xfrm>
          <a:prstGeom prst="roundRect">
            <a:avLst>
              <a:gd name="adj" fmla="val 640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408176"/>
            <a:ext cx="64008" cy="1143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572768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Direção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9088" y="1965960"/>
            <a:ext cx="5001768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Define princípios, prioridades, critérios decisórios e resultados esperados.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36208" y="2734056"/>
            <a:ext cx="5321808" cy="1143000"/>
          </a:xfrm>
          <a:prstGeom prst="roundRect">
            <a:avLst>
              <a:gd name="adj" fmla="val 640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2734056"/>
            <a:ext cx="64008" cy="1143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2898648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Supervisão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3291840"/>
            <a:ext cx="5001768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Acompanha desempenho, riscos, conformidade, benefícios e uso de recursos.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6208" y="4059936"/>
            <a:ext cx="5321808" cy="1143000"/>
          </a:xfrm>
          <a:prstGeom prst="roundRect">
            <a:avLst>
              <a:gd name="adj" fmla="val 640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36208" y="4059936"/>
            <a:ext cx="64008" cy="1143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9088" y="4224528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19088" y="4617720"/>
            <a:ext cx="5001768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Torna explícito quem responde por decisões e resultados perante as partes interessadas.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0E7490">
              <a:alpha val="10000"/>
            </a:srgbClr>
          </a:solidFill>
          <a:ln w="12700">
            <a:solidFill>
              <a:srgbClr val="0E7490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ISO/IEC 38500:2024 trata a governança de TI como um domínio da governança da própria organização.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DISTINÇÃO ESSENCIAL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Governança e gestão são complementares — mas não são sinônimos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44752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44752"/>
            <a:ext cx="64008" cy="4160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Governança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002536"/>
            <a:ext cx="5029200" cy="34655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Pergunta dominante: “Estamos tomando as decisões certas?”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Avalia necessidades, condições e opções.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Estabelece direção, prioridades e princípios.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Define direitos decisórios e responsabilidades.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Monitora resultados, riscos e conformidade.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Atua em horizonte estratégico e institucional.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1444752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9632" y="1444752"/>
            <a:ext cx="64008" cy="416052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609344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Gestão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82512" y="2002536"/>
            <a:ext cx="5029200" cy="34655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Pergunta dominante: “Estamos executando corretamente?”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Planeja e organiza recursos e atividades.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Implementa projetos e opera serviços.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Executa políticas e controles.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Mede desempenho operacional.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Atua nos níveis estratégico, tático e operacional.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0E7490">
              <a:alpha val="10000"/>
            </a:srgbClr>
          </a:solidFill>
          <a:ln w="12700">
            <a:solidFill>
              <a:srgbClr val="0E7490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Governança sem gestão vira intenção; gestão sem governança pode produzir eficiência local sem direção institucional.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CONTEXTO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Por que a governança de TI se tornou necessária?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44752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904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98448" y="13716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Dependência do negócio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749040" y="1371600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Processos essenciais dependem de sistemas, dados, redes, nuvem e fornecedores tecnológicos.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1298448" y="2066544"/>
            <a:ext cx="9966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359152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048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98448" y="22860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Investimentos relevantes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2286000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Tecnologia disputa recursos com outras prioridades e exige critérios transparentes de priorização.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1298448" y="2980944"/>
            <a:ext cx="9966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273552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3192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98448" y="32004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Riscos ampliados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49040" y="3200400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Falhas, ciberataques, indisponibilidade, perda de dados e uso inadequado de IA podem afetar o negócio.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1298448" y="3895344"/>
            <a:ext cx="9966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187952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2336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98448" y="41148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Regulação e conformidade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749040" y="4114800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LGPD, contratos, normas setoriais, auditorias e obrigações públicas exigem controles verificáveis.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1298448" y="4809744"/>
            <a:ext cx="9966960" cy="0"/>
          </a:xfrm>
          <a:prstGeom prst="line">
            <a:avLst/>
          </a:prstGeom>
          <a:noFill/>
          <a:ln w="1016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5102352"/>
            <a:ext cx="384048" cy="3840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51480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98448" y="50292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Transformação digital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749040" y="5029200"/>
            <a:ext cx="7516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Tecnologia deixou de ser apenas suporte e passou a moldar produtos, serviços e modelos de negócio.</a:t>
            </a:r>
            <a:endParaRPr lang="en-US" sz="12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OBJETIVOS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que a governança de TI busca equilibrar?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63040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63040"/>
            <a:ext cx="64008" cy="1691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2763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020824"/>
            <a:ext cx="3081528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Tecnologia deve contribuir para benefícios organizacionais mensuráveis — financeiros ou não.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4425696" y="1463040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5696" y="1463040"/>
            <a:ext cx="64008" cy="1691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62763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Risco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8576" y="2020824"/>
            <a:ext cx="3081528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Exposição deve permanecer coerente com o apetite e a tolerância a riscos da organização.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193024" y="1463040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93024" y="1463040"/>
            <a:ext cx="64008" cy="1691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5904" y="162763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Recursos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75904" y="2020824"/>
            <a:ext cx="3081528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Pessoas, aplicações, infraestrutura, dados e fornecedores precisam ser usados de forma responsável.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2542032" y="3502152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42032" y="3502152"/>
            <a:ext cx="64008" cy="1691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4912" y="366674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Alinhamento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24912" y="4059936"/>
            <a:ext cx="3081528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Prioridades de TI devem refletir objetivos institucionais e necessidades das partes interessadas.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309360" y="3502152"/>
            <a:ext cx="3401568" cy="1691640"/>
          </a:xfrm>
          <a:prstGeom prst="roundRect">
            <a:avLst>
              <a:gd name="adj" fmla="val 4324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502152"/>
            <a:ext cx="64008" cy="1691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66674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Desempenho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2240" y="4059936"/>
            <a:ext cx="3081528" cy="9966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Resultados devem ser medidos; desvios devem gerar decisões, correções e aprendizagem.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0E7490">
              <a:alpha val="10000"/>
            </a:srgbClr>
          </a:solidFill>
          <a:ln w="12700">
            <a:solidFill>
              <a:srgbClr val="0E7490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Uma boa decisão de governança raramente maximiza um objetivo isolado; ela busca um equilíbrio justificável entre valor, risco e recursos.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ESTRUTURA DECISÓRIA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Direitos decisórios: quem pode decidir o quê?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44752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44752"/>
            <a:ext cx="64008" cy="42976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093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Decisões típicas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002536"/>
            <a:ext cx="3108960" cy="3602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Princípios de TI e arquitetura.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Priorização de investimentos.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Políticas de segurança e dados.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Padrões tecnológicos.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Aquisição ou terceirização.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Níveis de serviço.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Exceções e aceitação de riscos.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4389120" y="1444752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44752"/>
            <a:ext cx="64008" cy="42976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093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Atores possíveis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002536"/>
            <a:ext cx="3108960" cy="3602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Conselho e alta administração.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Comitê executivo.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CIO / direção de TI.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Gestores de negócio.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Segurança, dados e arquitetura.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Donos de processos e serviços.</a:t>
            </a: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• Auditoria e funções de controle.</a:t>
            </a:r>
            <a:endParaRPr lang="en-US" sz="1370" dirty="0"/>
          </a:p>
        </p:txBody>
      </p:sp>
      <p:sp>
        <p:nvSpPr>
          <p:cNvPr id="13" name="Shape 11"/>
          <p:cNvSpPr/>
          <p:nvPr/>
        </p:nvSpPr>
        <p:spPr>
          <a:xfrm>
            <a:off x="8119872" y="1444752"/>
            <a:ext cx="3429000" cy="4297680"/>
          </a:xfrm>
          <a:prstGeom prst="roundRect">
            <a:avLst>
              <a:gd name="adj" fmla="val 2133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1444752"/>
            <a:ext cx="64008" cy="429768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60934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Perguntas de desenho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02752" y="2002536"/>
            <a:ext cx="3108960" cy="3602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Quem é responsável? Quem aprova? Quem é consultado? Quem deve ser informado?</a:t>
            </a:r>
            <a:endParaRPr lang="en-US" sz="1340" dirty="0"/>
          </a:p>
          <a:p>
            <a:pPr indent="0" marL="0">
              <a:buNone/>
            </a:pP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Decisões centralizadas aumentam consistência; decisões descentralizadas aumentam velocidade e aderência local. O desenho adequado depende do contexto.</a:t>
            </a:r>
            <a:endParaRPr lang="en-US" sz="13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VISÃO SISTÊMICA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Modelo genérico de governança de TI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901952"/>
            <a:ext cx="2062886" cy="1298448"/>
          </a:xfrm>
          <a:prstGeom prst="roundRect">
            <a:avLst/>
          </a:prstGeom>
          <a:solidFill>
            <a:srgbClr val="0E7490"/>
          </a:solidFill>
          <a:ln w="1524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029968"/>
            <a:ext cx="18800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Necessidades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" y="2432304"/>
            <a:ext cx="184343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Partes interessadas, contexto e riscos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02966" y="2459736"/>
            <a:ext cx="201168" cy="18288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7558" y="1901952"/>
            <a:ext cx="2062886" cy="129844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8998" y="2029968"/>
            <a:ext cx="18800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Avaliar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77286" y="2432304"/>
            <a:ext cx="184343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Opções, prioridades e impactos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12157" y="2459736"/>
            <a:ext cx="201168" cy="18288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6749" y="1901952"/>
            <a:ext cx="2062886" cy="129844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8189" y="2029968"/>
            <a:ext cx="18800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Direcionar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86477" y="2432304"/>
            <a:ext cx="184343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Princípios, objetivos, políticas e limites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121347" y="2459736"/>
            <a:ext cx="201168" cy="18288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85939" y="1901952"/>
            <a:ext cx="2062886" cy="129844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7379" y="2029968"/>
            <a:ext cx="18800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Gerir / Executar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95667" y="2432304"/>
            <a:ext cx="184343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Planos, projetos, serviços, controles e operação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330538" y="2459736"/>
            <a:ext cx="201168" cy="182880"/>
          </a:xfrm>
          <a:prstGeom prst="chevron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95130" y="1901952"/>
            <a:ext cx="2062886" cy="1298448"/>
          </a:xfrm>
          <a:prstGeom prst="roundRect">
            <a:avLst/>
          </a:prstGeom>
          <a:solidFill>
            <a:srgbClr val="F4F7FA"/>
          </a:solidFill>
          <a:ln w="1524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6570" y="2029968"/>
            <a:ext cx="188000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Monitorar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4858" y="2432304"/>
            <a:ext cx="184343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Indicadores, conformidade, benefícios e riscos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rot="10800000">
            <a:off x="1115568" y="3621024"/>
            <a:ext cx="10012680" cy="1051560"/>
          </a:xfrm>
          <a:prstGeom prst="arc">
            <a:avLst/>
          </a:prstGeom>
          <a:solidFill>
            <a:srgbClr val="FFFFFF">
              <a:alpha val="0"/>
            </a:srgbClr>
          </a:solidFill>
          <a:ln w="25400">
            <a:solidFill>
              <a:srgbClr val="0E7490"/>
            </a:solidFill>
            <a:prstDash val="solid"/>
            <a:headEnd type="triangle"/>
          </a:ln>
        </p:spPr>
      </p:sp>
      <p:sp>
        <p:nvSpPr>
          <p:cNvPr id="25" name="Text 23"/>
          <p:cNvSpPr/>
          <p:nvPr/>
        </p:nvSpPr>
        <p:spPr>
          <a:xfrm>
            <a:off x="4434840" y="43159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feedback e revisão de direção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0E7490">
              <a:alpha val="10000"/>
            </a:srgbClr>
          </a:solidFill>
          <a:ln w="12700">
            <a:solidFill>
              <a:srgbClr val="0E7490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ciclo não termina na execução: resultados e evidências retornam à governança para reavaliar decisões e prioridades.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MECANISMOS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Mecanismos de governança: como a intenção vira prática?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81328"/>
            <a:ext cx="3401568" cy="4297680"/>
          </a:xfrm>
          <a:prstGeom prst="roundRect">
            <a:avLst>
              <a:gd name="adj" fmla="val 215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81328"/>
            <a:ext cx="64008" cy="42976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4592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Estruturas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039112"/>
            <a:ext cx="3081528" cy="3602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Distribuem autoridade e responsabilidade. Exemplos: conselho, comitê de TI, comitê de riscos, arquitetura, donos de serviços, funções de segurança e auditoria.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Pergunta-chave: quem decide e quem responde?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89120" y="1481328"/>
            <a:ext cx="3401568" cy="4297680"/>
          </a:xfrm>
          <a:prstGeom prst="roundRect">
            <a:avLst>
              <a:gd name="adj" fmla="val 215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81328"/>
            <a:ext cx="64008" cy="429768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4592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Processos e controles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039112"/>
            <a:ext cx="3081528" cy="3602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Transformam decisões em práticas repetíveis. Exemplos: gestão de portfólio, orçamento, gestão de riscos, mudanças, incidentes, avaliação de fornecedores, auditoria e controles internos.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Pergunta-chave: como a decisão é executada e verificada?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119872" y="1481328"/>
            <a:ext cx="3401568" cy="4297680"/>
          </a:xfrm>
          <a:prstGeom prst="roundRect">
            <a:avLst>
              <a:gd name="adj" fmla="val 215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1481328"/>
            <a:ext cx="64008" cy="429768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645920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Mecanismos relacionais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02752" y="2039112"/>
            <a:ext cx="3081528" cy="36027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Criam comunicação, confiança e alinhamento entre negócio e TI. Exemplos: fóruns conjuntos, linguagem comum, equipes multidisciplinares, transparência de indicadores e colaboração contínua.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Pergunta-chave: como as partes se coordenam?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POLÍTICAS E CONTROLES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 intenção ao controle: uma hierarquia de instrumentos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53312"/>
            <a:ext cx="2743200" cy="585216"/>
          </a:xfrm>
          <a:prstGeom prst="roundRect">
            <a:avLst/>
          </a:prstGeom>
          <a:solidFill>
            <a:srgbClr val="0E7490"/>
          </a:solidFill>
          <a:ln w="12700">
            <a:solidFill>
              <a:srgbClr val="0E7490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51790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Princípio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3950208" y="1389888"/>
            <a:ext cx="7296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Orientação ampla e relativamente estável: expressa aquilo que a organização valoriza.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978408" y="2267712"/>
            <a:ext cx="2651760" cy="585216"/>
          </a:xfrm>
          <a:prstGeom prst="roundRect">
            <a:avLst/>
          </a:prstGeom>
          <a:solidFill>
            <a:srgbClr val="0E7490">
              <a:alpha val="88000"/>
            </a:srgbClr>
          </a:solidFill>
          <a:ln w="12700">
            <a:solidFill>
              <a:srgbClr val="0E7490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4323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Política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3950208" y="2304288"/>
            <a:ext cx="7296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Regra institucional que traduz o princípio em uma expectativa obrigatória ou diretriz formal.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1179576" y="3182112"/>
            <a:ext cx="2560320" cy="585216"/>
          </a:xfrm>
          <a:prstGeom prst="roundRect">
            <a:avLst/>
          </a:prstGeom>
          <a:solidFill>
            <a:srgbClr val="0E7490">
              <a:alpha val="76000"/>
            </a:srgbClr>
          </a:solidFill>
          <a:ln w="12700">
            <a:solidFill>
              <a:srgbClr val="0E7490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4168" y="334670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Norma / padrão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3950208" y="3218688"/>
            <a:ext cx="7296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Define requisitos específicos, critérios técnicos ou limites que devem ser observados.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1380744" y="4096512"/>
            <a:ext cx="2468880" cy="585216"/>
          </a:xfrm>
          <a:prstGeom prst="roundRect">
            <a:avLst/>
          </a:prstGeom>
          <a:solidFill>
            <a:srgbClr val="0E7490">
              <a:alpha val="64000"/>
            </a:srgbClr>
          </a:solidFill>
          <a:ln w="12700">
            <a:solidFill>
              <a:srgbClr val="0E7490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45336" y="42611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Procedimento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3950208" y="4133088"/>
            <a:ext cx="7296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Descreve como uma atividade deve ser realizada, por quem e em que sequência.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1581912" y="5010912"/>
            <a:ext cx="2377440" cy="585216"/>
          </a:xfrm>
          <a:prstGeom prst="roundRect">
            <a:avLst/>
          </a:prstGeom>
          <a:solidFill>
            <a:srgbClr val="0E7490">
              <a:alpha val="52000"/>
            </a:srgbClr>
          </a:solidFill>
          <a:ln w="12700">
            <a:solidFill>
              <a:srgbClr val="0E7490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46504" y="51755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Controle + evidência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3950208" y="5047488"/>
            <a:ext cx="7296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Previne, detecta ou corrige desvios e gera evidências de que a regra foi aplicada.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0E7490">
              <a:alpha val="10000"/>
            </a:srgbClr>
          </a:solidFill>
          <a:ln w="12700">
            <a:solidFill>
              <a:srgbClr val="0E7490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qualidade de uma política depende de sua capacidade de ser interpretada, executada, controlada e demonstrada por evidências.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CONTROLE INTERNO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Controles de TI: finalidade, momento e evidência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3401568" cy="1874520"/>
          </a:xfrm>
          <a:prstGeom prst="roundRect">
            <a:avLst>
              <a:gd name="adj" fmla="val 3902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64008" cy="1874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819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Preventivos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975104"/>
            <a:ext cx="3081528" cy="11795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Atuam antes do evento para reduzir sua probabilidade. Exemplos: segregação de funções, autenticação multifator, validação de mudanças, regras de configuração.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01568" cy="1874520"/>
          </a:xfrm>
          <a:prstGeom prst="roundRect">
            <a:avLst>
              <a:gd name="adj" fmla="val 3902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17320"/>
            <a:ext cx="64008" cy="187452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819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Detectivos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1975104"/>
            <a:ext cx="3081528" cy="11795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Identificam eventos ou desvios após ou durante sua ocorrência. Exemplos: monitoramento, alertas, revisão de logs, conciliações, testes e auditorias.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119872" y="1417320"/>
            <a:ext cx="3401568" cy="1874520"/>
          </a:xfrm>
          <a:prstGeom prst="roundRect">
            <a:avLst>
              <a:gd name="adj" fmla="val 3902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1417320"/>
            <a:ext cx="64008" cy="18745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5819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Corretivos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02752" y="1975104"/>
            <a:ext cx="3081528" cy="11795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Reduzem impacto e restabelecem a condição desejada. Exemplos: restauração de backup, rollback, bloqueio de acesso, plano de resposta a incidentes.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658368" y="3584448"/>
            <a:ext cx="5358384" cy="1938528"/>
          </a:xfrm>
          <a:prstGeom prst="roundRect">
            <a:avLst>
              <a:gd name="adj" fmla="val 3774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3584448"/>
            <a:ext cx="64008" cy="193852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749040"/>
            <a:ext cx="5038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Manual × automatizado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" y="4142232"/>
            <a:ext cx="5038344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Controles manuais dependem de ação humana; controles automatizados são executados por sistemas. O grau de automação afeta consistência, custo, velocidade e risco de erro.</a:t>
            </a:r>
            <a:endParaRPr lang="en-US" sz="1290" dirty="0"/>
          </a:p>
        </p:txBody>
      </p:sp>
      <p:sp>
        <p:nvSpPr>
          <p:cNvPr id="21" name="Shape 19"/>
          <p:cNvSpPr/>
          <p:nvPr/>
        </p:nvSpPr>
        <p:spPr>
          <a:xfrm>
            <a:off x="6199632" y="3584448"/>
            <a:ext cx="5321808" cy="1938528"/>
          </a:xfrm>
          <a:prstGeom prst="roundRect">
            <a:avLst>
              <a:gd name="adj" fmla="val 3774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9632" y="3584448"/>
            <a:ext cx="64008" cy="193852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74904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Controle × evidência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82512" y="4142232"/>
            <a:ext cx="5001768" cy="12435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Um controle sem evidência verificável é difícil de auditar. Exemplos de evidência: logs, aprovações, relatórios, tickets, atas, registros de revisão e trilhas de auditoria.</a:t>
            </a:r>
            <a:endParaRPr lang="en-US" sz="12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DESEMPENHO E RISCO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Monitoramento: medir para decidir, não apenas para reportar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3401568" cy="4206240"/>
          </a:xfrm>
          <a:prstGeom prst="roundRect">
            <a:avLst>
              <a:gd name="adj" fmla="val 215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64008" cy="42062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819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Indicadores de desempenho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975104"/>
            <a:ext cx="3081528" cy="3511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KPIs acompanham eficiência, eficácia e resultados. Exemplos: disponibilidade, prazo de projetos, tempo médio de atendimento, aderência a orçamento e satisfação de usuários.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Indicadores só têm utilidade quando possuem meta, responsável e consequência decisória.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401568" cy="4206240"/>
          </a:xfrm>
          <a:prstGeom prst="roundRect">
            <a:avLst>
              <a:gd name="adj" fmla="val 215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17320"/>
            <a:ext cx="64008" cy="4206240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819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Indicadores de risco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1975104"/>
            <a:ext cx="3081528" cy="3511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KRIs sinalizam aumento de exposição. Exemplos: vulnerabilidades críticas abertas, concentração em fornecedor, acessos privilegiados excessivos, backups sem teste e mudanças emergenciais.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8119872" y="1417320"/>
            <a:ext cx="3401568" cy="4206240"/>
          </a:xfrm>
          <a:prstGeom prst="roundRect">
            <a:avLst>
              <a:gd name="adj" fmla="val 215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1417320"/>
            <a:ext cx="64008" cy="4206240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5819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Prestação de contas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02752" y="1975104"/>
            <a:ext cx="3081528" cy="3511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Relatórios de governança devem explicar: o que foi decidido, por quê, quem responde, qual risco foi aceito, que benefício é esperado e como o resultado será acompanhado.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Estudo de caso: empresa de soluções de IA sob demanda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371600"/>
            <a:ext cx="3685032" cy="4526280"/>
          </a:xfrm>
          <a:prstGeom prst="roundRect">
            <a:avLst>
              <a:gd name="adj" fmla="val 1985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371600"/>
            <a:ext cx="64008" cy="45262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536192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AI Solutions Brasil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1929384"/>
            <a:ext cx="3364992" cy="3831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Empresa fictícia com 120 profissionais. Desenvolve aplicações de IA para clientes externos, usa múltiplas nuvens e manipula dados potencialmente sensíveis.</a:t>
            </a:r>
            <a:endParaRPr lang="en-US" sz="1360" dirty="0"/>
          </a:p>
          <a:p>
            <a:pPr indent="0" marL="0">
              <a:buNone/>
            </a:pP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Cresceu rapidamente: equipes passaram a escolher ferramentas, modelos, provedores e bases com alto grau de autonomia.</a:t>
            </a:r>
            <a:endParaRPr lang="en-US" sz="1360" dirty="0"/>
          </a:p>
        </p:txBody>
      </p:sp>
      <p:sp>
        <p:nvSpPr>
          <p:cNvPr id="9" name="Shape 7"/>
          <p:cNvSpPr/>
          <p:nvPr/>
        </p:nvSpPr>
        <p:spPr>
          <a:xfrm>
            <a:off x="4645152" y="1572768"/>
            <a:ext cx="1901952" cy="713232"/>
          </a:xfrm>
          <a:prstGeom prst="roundRect">
            <a:avLst/>
          </a:prstGeom>
          <a:solidFill>
            <a:srgbClr val="0E7490">
              <a:alpha val="12000"/>
            </a:srgbClr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181051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Clientes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33488" y="1572768"/>
            <a:ext cx="2029968" cy="713232"/>
          </a:xfrm>
          <a:prstGeom prst="roundRect">
            <a:avLst/>
          </a:prstGeom>
          <a:solidFill>
            <a:srgbClr val="2B6CB0">
              <a:alpha val="12000"/>
            </a:srgbClr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33488" y="1810512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Times de 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875520" y="1572768"/>
            <a:ext cx="1572768" cy="713232"/>
          </a:xfrm>
          <a:prstGeom prst="roundRect">
            <a:avLst/>
          </a:prstGeom>
          <a:solidFill>
            <a:srgbClr val="6B46C1">
              <a:alpha val="12000"/>
            </a:srgbClr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0" y="18105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Nuvem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02552" y="1810512"/>
            <a:ext cx="384048" cy="219456"/>
          </a:xfrm>
          <a:prstGeom prst="chevron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64040" y="1810512"/>
            <a:ext cx="292608" cy="219456"/>
          </a:xfrm>
          <a:prstGeom prst="chevron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5152" y="2761488"/>
            <a:ext cx="6803136" cy="3136392"/>
          </a:xfrm>
          <a:prstGeom prst="roundRect">
            <a:avLst>
              <a:gd name="adj" fmla="val 2332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45152" y="2761488"/>
            <a:ext cx="64008" cy="3136392"/>
          </a:xfrm>
          <a:prstGeom prst="rect">
            <a:avLst/>
          </a:prstGeom>
          <a:solidFill>
            <a:srgbClr val="C76A13"/>
          </a:solidFill>
          <a:ln w="12700">
            <a:solidFill>
              <a:srgbClr val="C76A1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926080"/>
            <a:ext cx="6483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Questões de governança que surgem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28032" y="3319272"/>
            <a:ext cx="6483096" cy="24414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Quem aprova novos provedores? Quem pode usar dados de clientes para treinamento? Quais modelos podem ir para produção? Como são aceitos riscos de privacidade, segurança e viés? Quais controles devem existir? Quem monitora custos, incidentes e conformidade?</a:t>
            </a:r>
            <a:endParaRPr lang="en-US" sz="1360" dirty="0"/>
          </a:p>
          <a:p>
            <a:pPr indent="0" marL="0">
              <a:buNone/>
            </a:pP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 problema não é “qual tecnologia usar”, mas “como a organização decide, controla e responde pelo uso da tecnologia”.</a:t>
            </a:r>
            <a:endParaRPr lang="en-US" sz="13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APLICAÇÃO EM GRUPO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Atividade 6 — princípios, políticas e mecanismos de controle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71600"/>
            <a:ext cx="3657600" cy="4480560"/>
          </a:xfrm>
          <a:prstGeom prst="roundRect">
            <a:avLst>
              <a:gd name="adj" fmla="val 2000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71600"/>
            <a:ext cx="64008" cy="44805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3619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Tarefa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929384"/>
            <a:ext cx="3337560" cy="37856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 base no caso da AI Solutions Brasil, selecione um tema de risco: dados de clientes, uso de IA generativa, segurança de acesso, contratação de nuvem, mudança em produção ou continuidade.</a:t>
            </a:r>
            <a:endParaRPr lang="en-US" sz="1370" dirty="0"/>
          </a:p>
          <a:p>
            <a:pPr indent="0" marL="0">
              <a:buNone/>
            </a:pPr>
            <a:endParaRPr lang="en-US" sz="1370" dirty="0"/>
          </a:p>
          <a:p>
            <a:pPr indent="0" marL="0">
              <a:buNone/>
            </a:pPr>
            <a:r>
              <a:rPr lang="en-US" sz="137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Construa uma cadeia coerente contendo: 1 princípio, 1 política, 1 procedimento ou regra operacional, 2 controles e as evidências esperadas.</a:t>
            </a:r>
            <a:endParaRPr lang="en-US" sz="1370" dirty="0"/>
          </a:p>
        </p:txBody>
      </p:sp>
      <p:sp>
        <p:nvSpPr>
          <p:cNvPr id="9" name="Shape 7"/>
          <p:cNvSpPr/>
          <p:nvPr/>
        </p:nvSpPr>
        <p:spPr>
          <a:xfrm>
            <a:off x="4553712" y="1371600"/>
            <a:ext cx="6967728" cy="1115568"/>
          </a:xfrm>
          <a:prstGeom prst="roundRect">
            <a:avLst>
              <a:gd name="adj" fmla="val 6557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53712" y="1371600"/>
            <a:ext cx="64008" cy="1115568"/>
          </a:xfrm>
          <a:prstGeom prst="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536192"/>
            <a:ext cx="6647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Exemplo — princípio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36592" y="1929384"/>
            <a:ext cx="66476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Dados fornecidos por clientes devem ser usados de forma segura, rastreável e compatível com a finalidade autorizada.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53712" y="2679192"/>
            <a:ext cx="6967728" cy="1115568"/>
          </a:xfrm>
          <a:prstGeom prst="roundRect">
            <a:avLst>
              <a:gd name="adj" fmla="val 6557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53712" y="2679192"/>
            <a:ext cx="64008" cy="111556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2843784"/>
            <a:ext cx="6647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Exemplo — política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36592" y="3236976"/>
            <a:ext cx="66476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Bases de clientes somente podem ser utilizadas em ambientes aprovados e acessadas por profissionais formalmente autorizados.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53712" y="3986784"/>
            <a:ext cx="6967728" cy="1572768"/>
          </a:xfrm>
          <a:prstGeom prst="roundRect">
            <a:avLst>
              <a:gd name="adj" fmla="val 465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53712" y="3986784"/>
            <a:ext cx="64008" cy="157276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4151376"/>
            <a:ext cx="6647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Exemplo — controles e evidências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36592" y="4544568"/>
            <a:ext cx="6647688" cy="8778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Controles: autenticação multifator; revisão trimestral de permissões; bloqueio de exportação não autorizada. Evidências: logs de acesso, relatórios de revisão, tickets de aprovação e registros de exceções.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585216" y="5870448"/>
            <a:ext cx="10972800" cy="402336"/>
          </a:xfrm>
          <a:prstGeom prst="roundRect">
            <a:avLst/>
          </a:prstGeom>
          <a:solidFill>
            <a:srgbClr val="0E7490">
              <a:alpha val="10000"/>
            </a:srgbClr>
          </a:solidFill>
          <a:ln w="12700">
            <a:solidFill>
              <a:srgbClr val="0E7490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5971032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Critério de qualidade: deve ser possível enxergar a relação entre risco → princípio → regra → controle → evidência.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0E749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FECHAMENTO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Síntese e referências para estudo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10972800" cy="0"/>
          </a:xfrm>
          <a:prstGeom prst="line">
            <a:avLst/>
          </a:prstGeom>
          <a:noFill/>
          <a:ln w="1397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417320"/>
            <a:ext cx="5394960" cy="4160520"/>
          </a:xfrm>
          <a:prstGeom prst="roundRect">
            <a:avLst>
              <a:gd name="adj" fmla="val 1758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17320"/>
            <a:ext cx="64008" cy="4160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58191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Ideias que devem permanecer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1975104"/>
            <a:ext cx="5074920" cy="34655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Governança de TI organiza direitos decisórios, responsabilidades, princípios, mecanismos de controle e monitoramento. Ela procura assegurar que tecnologia gere valor em nível de risco aceitável e com uso responsável de recursos.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gestão executa a direção definida pela governança; ambas precisam estar integradas.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6236208" y="1417320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6208" y="1417320"/>
            <a:ext cx="64008" cy="1965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581912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Referências-base da disciplina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9088" y="1975104"/>
            <a:ext cx="5001768" cy="1271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FERNANDES, A. A.; ABREU, V. F. Implantando a Governança de TI. 3ª e 4ª ed.</a:t>
            </a:r>
            <a:endParaRPr lang="en-US" sz="1260" dirty="0"/>
          </a:p>
          <a:p>
            <a:pPr indent="0" marL="0">
              <a:buNone/>
            </a:pP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Referência central da disciplina para conceitos de governança, alinhamento, mecanismos e gestão de TI.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6236208" y="3611880"/>
            <a:ext cx="5321808" cy="1965960"/>
          </a:xfrm>
          <a:prstGeom prst="roundRect">
            <a:avLst>
              <a:gd name="adj" fmla="val 3721"/>
            </a:avLst>
          </a:prstGeom>
          <a:solidFill>
            <a:srgbClr val="FAFB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36208" y="3611880"/>
            <a:ext cx="64008" cy="1965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3776472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Atualização e referências complementares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4169664"/>
            <a:ext cx="5001768" cy="1271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ISO/IEC 38500:2024 — Information technology — Governance of IT for the organization.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B53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Complementar: Weill &amp; Ross; Van Grembergen &amp; De Haes, para direitos decisórios e mecanismos de governança.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0080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D98"/>
                </a:solidFill>
                <a:latin typeface="Arimo"/>
                <a:ea typeface="Arimo"/>
                <a:cs typeface="Arim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m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m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IFSP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7 — Fundamentos de Governança de TI</dc:title>
  <dc:subject>Governança de TI; modelo genérico de governança; princípios, políticas e controles</dc:subject>
  <dc:creator>OpenAI — material didático preparado para uso acadêmico</dc:creator>
  <cp:lastModifiedBy>OpenAI — material didático preparado para uso acadêmico</cp:lastModifiedBy>
  <cp:revision>1</cp:revision>
  <dcterms:created xsi:type="dcterms:W3CDTF">2026-10-07T11:34:12Z</dcterms:created>
  <dcterms:modified xsi:type="dcterms:W3CDTF">2026-10-07T11:34:12Z</dcterms:modified>
</cp:coreProperties>
</file>